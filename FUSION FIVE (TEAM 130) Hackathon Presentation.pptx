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61" r:id="rId5"/>
    <p:sldId id="262" r:id="rId6"/>
    <p:sldId id="2691" r:id="rId7"/>
    <p:sldId id="264" r:id="rId8"/>
    <p:sldId id="265" r:id="rId9"/>
    <p:sldId id="266" r:id="rId10"/>
    <p:sldId id="268" r:id="rId11"/>
    <p:sldId id="2689" r:id="rId12"/>
    <p:sldId id="259" r:id="rId13"/>
  </p:sldIdLst>
  <p:sldSz cx="9902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135C1530-69CB-4491-A4A1-DFE2A76418C7}">
          <p14:sldIdLst>
            <p14:sldId id="256"/>
            <p14:sldId id="257"/>
            <p14:sldId id="260"/>
            <p14:sldId id="261"/>
            <p14:sldId id="262"/>
            <p14:sldId id="2691"/>
            <p14:sldId id="264"/>
            <p14:sldId id="265"/>
            <p14:sldId id="266"/>
          </p14:sldIdLst>
        </p14:section>
        <p14:section name="Untitled Section" id="{B83A3E69-94A5-486D-9773-1C0C4848178F}">
          <p14:sldIdLst>
            <p14:sldId id="268"/>
            <p14:sldId id="2689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pos="311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jao44pu+KCA6NTQBv1XWNfs34U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152" y="72"/>
      </p:cViewPr>
      <p:guideLst>
        <p:guide pos="311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AD157A8-1C1F-4A6B-F197-091732FF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A0922F1A-1AF4-1332-BE6E-BC9F3873EE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ABD48EB9-8A42-8310-994F-C97BC51CB7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5344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127A3BD1-575B-073B-F078-26E32A83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31F31ABE-0D79-D68E-F3F8-BB7FACD4F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8688A882-4B64-10B1-C908-7341EDCA7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8329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9630EBA-D568-4889-0B32-8981B2E4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0503F192-17FB-698E-ECD1-4CC8A60D6C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DA251B28-FDCE-36D8-EB56-B7F8D5F441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126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DB006D7-2A73-D1A8-CE19-E9C06F78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877BA6B0-3CB8-880D-4343-6F7704D6A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B14127E5-B5D5-EF13-C72C-84D4B12A7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8263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A6864B4-1019-CB0F-E6BE-955D64D2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1E7514A-FFC9-2FD3-4AEA-4BC170BFC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1D79D85D-84C2-C457-8350-E21292CF86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1417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E66DCE2-7338-9E45-CE05-90057930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E0BA2C6-E9E4-B3F2-C554-9C9CDA8883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DAE23B58-2A71-463E-2404-9E89C5E84E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2892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F8F98BC-E3B6-F419-C472-5D77EAB40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27501FA-503D-5B43-871C-509C515CC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F835542A-A1D7-E0B9-5A3B-F454ECAC6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6941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F2F2F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/>
          <p:nvPr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Coding and Programming Course</a:t>
            </a:r>
            <a:endParaRPr sz="2400" b="0" i="0" u="none" strike="noStrike" cap="non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2">
  <p:cSld name="3_Table of Contents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7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;p7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4395"/>
            <a:ext cx="9899651" cy="685360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/>
          <p:nvPr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5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9"/>
          <p:cNvSpPr/>
          <p:nvPr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ⓒ2023 SAMSUNG. All rights reserved.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/>
          </a:p>
        </p:txBody>
      </p:sp>
      <p:pic>
        <p:nvPicPr>
          <p:cNvPr id="39" name="Google Shape;3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1822" y="3022951"/>
            <a:ext cx="2476006" cy="81209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449468" y="450000"/>
            <a:ext cx="1290568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10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" name="Google Shape;43;p10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45" name="Google Shape;45;p10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85">
          <p15:clr>
            <a:srgbClr val="FBAE40"/>
          </p15:clr>
        </p15:guide>
        <p15:guide id="2" pos="595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able of Contents2">
  <p:cSld name="2_Table of Contents2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11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11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51" name="Google Shape;51;p11"/>
          <p:cNvSpPr/>
          <p:nvPr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C&amp;P Course</a:t>
            </a:r>
            <a:endParaRPr sz="2100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1"/>
          <p:cNvSpPr/>
          <p:nvPr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1"/>
          <p:cNvSpPr/>
          <p:nvPr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">
  <p:cSld name="3_Table of Conten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2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2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1" name="Google Shape;61;p12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able of Contents">
  <p:cSld name="1_Table of Conten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3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3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">
  <p:cSld name="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4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4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449468" y="900000"/>
            <a:ext cx="9000714" cy="0"/>
          </a:xfrm>
          <a:prstGeom prst="straightConnector1">
            <a:avLst/>
          </a:prstGeom>
          <a:noFill/>
          <a:ln w="15875" cap="flat" cmpd="sng">
            <a:solidFill>
              <a:srgbClr val="0924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4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ody">
  <p:cSld name="1_Body">
    <p:bg>
      <p:bgPr>
        <a:solidFill>
          <a:srgbClr val="F2F2F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 Ti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5">
            <a:extLst>
              <a:ext uri="{FF2B5EF4-FFF2-40B4-BE49-F238E27FC236}">
                <a16:creationId xmlns:a16="http://schemas.microsoft.com/office/drawing/2014/main" id="{1B2B22C2-BBD9-4044-B049-D10CDF14FDE6}"/>
              </a:ext>
            </a:extLst>
          </p:cNvPr>
          <p:cNvSpPr txBox="1">
            <a:spLocks/>
          </p:cNvSpPr>
          <p:nvPr userDrawn="1"/>
        </p:nvSpPr>
        <p:spPr>
          <a:xfrm>
            <a:off x="6324398" y="6347711"/>
            <a:ext cx="243335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kern="1200" dirty="0">
                <a:solidFill>
                  <a:schemeClr val="bg1">
                    <a:lumMod val="50000"/>
                  </a:schemeClr>
                </a:solidFill>
                <a:latin typeface="SamsungSharpSans-Medium" pitchFamily="2" charset="0"/>
                <a:ea typeface="SamsungSharpSans-Medium" pitchFamily="2" charset="0"/>
                <a:cs typeface="SamsungSharpSans-Medium" pitchFamily="2" charset="0"/>
              </a:rPr>
              <a:t>Chapter 2. Math for Data Science</a:t>
            </a:r>
            <a:endParaRPr lang="ko-KR" altLang="en-US" sz="1100" kern="1200" dirty="0">
              <a:solidFill>
                <a:schemeClr val="bg1">
                  <a:lumMod val="50000"/>
                </a:schemeClr>
              </a:solidFill>
              <a:latin typeface="SamsungSharpSans-Medium" pitchFamily="2" charset="0"/>
              <a:ea typeface="SamsungSharpSans-Medium" pitchFamily="2" charset="0"/>
              <a:cs typeface="SamsungSharpSans-Medium" pitchFamily="2" charset="0"/>
            </a:endParaRPr>
          </a:p>
        </p:txBody>
      </p:sp>
      <p:sp>
        <p:nvSpPr>
          <p:cNvPr id="3" name="슬라이드 번호 개체 틀 15">
            <a:extLst>
              <a:ext uri="{FF2B5EF4-FFF2-40B4-BE49-F238E27FC236}">
                <a16:creationId xmlns:a16="http://schemas.microsoft.com/office/drawing/2014/main" id="{8C6D6C91-60C1-41CF-B03F-1735A6A41637}"/>
              </a:ext>
            </a:extLst>
          </p:cNvPr>
          <p:cNvSpPr txBox="1">
            <a:spLocks/>
          </p:cNvSpPr>
          <p:nvPr userDrawn="1"/>
        </p:nvSpPr>
        <p:spPr>
          <a:xfrm>
            <a:off x="8805867" y="6347726"/>
            <a:ext cx="538163" cy="169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1100" smtClean="0"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Arial Unicode MS" panose="020B0604020202020204" pitchFamily="50" charset="-127"/>
              </a:rPr>
              <a:t>/44</a:t>
            </a:r>
          </a:p>
        </p:txBody>
      </p:sp>
    </p:spTree>
    <p:extLst>
      <p:ext uri="{BB962C8B-B14F-4D97-AF65-F5344CB8AC3E}">
        <p14:creationId xmlns:p14="http://schemas.microsoft.com/office/powerpoint/2010/main" val="3306706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Fusion Five</a:t>
            </a:r>
            <a:endParaRPr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3" name="Google Shape;83;p1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6479790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dirty="0"/>
              <a:t>Online Examination System(</a:t>
            </a:r>
            <a:r>
              <a:rPr lang="en-US" dirty="0" err="1"/>
              <a:t>Examsphere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5675">
        <p15:prstTrans prst="peelOff"/>
      </p:transition>
    </mc:Choice>
    <mc:Fallback>
      <p:transition spd="slow" advTm="5675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401990" y="1253067"/>
            <a:ext cx="4710324" cy="4041196"/>
            <a:chOff x="3768859" y="3224809"/>
            <a:chExt cx="6032132" cy="2968588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About our Team</a:t>
              </a:r>
              <a:endParaRPr sz="2400"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768859" y="3842093"/>
              <a:ext cx="6032132" cy="23513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200000"/>
                </a:lnSpc>
              </a:pPr>
              <a:r>
                <a:rPr lang="en-IN" sz="2400" b="1" u="sng" dirty="0"/>
                <a:t>Team Name</a:t>
              </a:r>
              <a:r>
                <a:rPr lang="en-IN" sz="2400" u="sng" dirty="0"/>
                <a:t>: Fusion five</a:t>
              </a:r>
            </a:p>
            <a:p>
              <a:pPr lvl="0">
                <a:lnSpc>
                  <a:spcPct val="200000"/>
                </a:lnSpc>
              </a:pPr>
              <a:r>
                <a:rPr lang="en-IN" sz="1600" b="1" dirty="0"/>
                <a:t>Project Title</a:t>
              </a:r>
              <a:r>
                <a:rPr lang="en-IN" sz="1600" dirty="0"/>
                <a:t>: Online Examination System</a:t>
              </a:r>
            </a:p>
            <a:p>
              <a:pPr lvl="0">
                <a:lnSpc>
                  <a:spcPct val="200000"/>
                </a:lnSpc>
              </a:pPr>
              <a:r>
                <a:rPr lang="en-IN" sz="1600" b="1" dirty="0"/>
                <a:t>Course: SIC Coding &amp; Programming</a:t>
              </a:r>
            </a:p>
            <a:p>
              <a:pPr lvl="0">
                <a:lnSpc>
                  <a:spcPct val="200000"/>
                </a:lnSpc>
              </a:pPr>
              <a:r>
                <a:rPr lang="en-IN" sz="1600" b="1" dirty="0"/>
                <a:t>College :</a:t>
              </a:r>
              <a:r>
                <a:rPr lang="en-IN" dirty="0"/>
                <a:t>RAYAT BAHRA UNIVERSITY,KHARAR(MOHALI)  </a:t>
              </a:r>
              <a:endParaRPr lang="en-IN" sz="1600" dirty="0"/>
            </a:p>
            <a:p>
              <a:pPr lvl="0">
                <a:lnSpc>
                  <a:spcPct val="200000"/>
                </a:lnSpc>
              </a:pPr>
              <a:r>
                <a:rPr lang="en-IN" sz="1600" b="1" dirty="0"/>
                <a:t>Batch Code :</a:t>
              </a:r>
              <a:r>
                <a:rPr lang="en-IN" sz="1600" dirty="0"/>
                <a:t>25037</a:t>
              </a: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400" dirty="0">
                <a:solidFill>
                  <a:schemeClr val="lt1"/>
                </a:solidFill>
              </a:rPr>
              <a:t>Online Examination System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472B19-2E46-6532-009D-7301CB7081C2}"/>
              </a:ext>
            </a:extLst>
          </p:cNvPr>
          <p:cNvSpPr txBox="1"/>
          <p:nvPr/>
        </p:nvSpPr>
        <p:spPr>
          <a:xfrm>
            <a:off x="4696975" y="2193126"/>
            <a:ext cx="4710325" cy="3330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</a:pPr>
            <a:r>
              <a:rPr lang="en-IN" sz="1800" b="1" u="sng" dirty="0"/>
              <a:t>Team Members &amp; Role: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Ms. ARUSHI KAUSHAL(Team leader)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Mr. Furkan  Fayaz(Presentation &amp; Demo)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Mr. Aryan (Data Lead)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Ms. Anjali Sharma(Model Builder)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Mr. Anmol Singh(Research &amp; Testing)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72F82A-BA23-DDC3-1718-D4522E7C7BCB}"/>
              </a:ext>
            </a:extLst>
          </p:cNvPr>
          <p:cNvCxnSpPr>
            <a:cxnSpLocks/>
          </p:cNvCxnSpPr>
          <p:nvPr/>
        </p:nvCxnSpPr>
        <p:spPr>
          <a:xfrm>
            <a:off x="4427629" y="994300"/>
            <a:ext cx="0" cy="54153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9062">
        <p15:prstTrans prst="peelOff"/>
      </p:transition>
    </mc:Choice>
    <mc:Fallback>
      <p:transition spd="slow" advTm="19062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A59423B-3E3F-8016-E4CB-1FF9A8CF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60768E0D-C8F8-3514-ABA2-839F1D3F5EDA}"/>
              </a:ext>
            </a:extLst>
          </p:cNvPr>
          <p:cNvGrpSpPr/>
          <p:nvPr/>
        </p:nvGrpSpPr>
        <p:grpSpPr>
          <a:xfrm>
            <a:off x="266608" y="1533446"/>
            <a:ext cx="4388791" cy="492443"/>
            <a:chOff x="4181256" y="3080836"/>
            <a:chExt cx="4388791" cy="492443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6EE9B28F-17EA-AFD1-6211-C1BD78BE8CF7}"/>
                </a:ext>
              </a:extLst>
            </p:cNvPr>
            <p:cNvSpPr/>
            <p:nvPr/>
          </p:nvSpPr>
          <p:spPr>
            <a:xfrm>
              <a:off x="4373014" y="3080836"/>
              <a:ext cx="4197033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200"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02FF4208-F554-E9D6-EF6F-FC55C17522CC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BD05678-D32A-AB30-6669-040226575301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Online </a:t>
            </a:r>
            <a:r>
              <a:rPr lang="en-IN" sz="2400" dirty="0">
                <a:solidFill>
                  <a:schemeClr val="lt1"/>
                </a:solidFill>
              </a:rPr>
              <a:t>E</a:t>
            </a:r>
            <a:r>
              <a:rPr lang="en-IN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xamination System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4A3B9-5DC3-2B1E-1456-617DA4DB7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75" y="2457416"/>
            <a:ext cx="9369873" cy="36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The current manual (pen-and-paper) examination system is inefficient and prone </a:t>
            </a:r>
          </a:p>
          <a:p>
            <a:r>
              <a:rPr lang="en-US" sz="2000" dirty="0"/>
              <a:t>to errors. Key issues include:</a:t>
            </a:r>
          </a:p>
          <a:p>
            <a:endParaRPr lang="en-US" sz="2000" dirty="0"/>
          </a:p>
          <a:p>
            <a:r>
              <a:rPr lang="en-US" sz="2000" b="1" dirty="0"/>
              <a:t>High Costs:</a:t>
            </a:r>
            <a:r>
              <a:rPr lang="en-US" sz="2000" dirty="0"/>
              <a:t> Large expenses for paper, printing, and logistics.</a:t>
            </a:r>
          </a:p>
          <a:p>
            <a:endParaRPr lang="en-US" sz="2000" b="1" dirty="0"/>
          </a:p>
          <a:p>
            <a:r>
              <a:rPr lang="en-US" sz="2000" b="1" dirty="0"/>
              <a:t>Time Delays:</a:t>
            </a:r>
            <a:r>
              <a:rPr lang="en-US" sz="2000" dirty="0"/>
              <a:t> Grading and result generation take weeks or months.</a:t>
            </a:r>
          </a:p>
          <a:p>
            <a:endParaRPr lang="en-US" sz="2000" b="1" dirty="0"/>
          </a:p>
          <a:p>
            <a:r>
              <a:rPr lang="en-US" sz="2000" b="1" dirty="0"/>
              <a:t>Security Risks:</a:t>
            </a:r>
            <a:r>
              <a:rPr lang="en-US" sz="2000" dirty="0"/>
              <a:t> High chance of question paper leakage and physical tampering.</a:t>
            </a:r>
          </a:p>
          <a:p>
            <a:endParaRPr lang="en-US" sz="2000" b="1" dirty="0"/>
          </a:p>
          <a:p>
            <a:r>
              <a:rPr lang="en-US" sz="2000" b="1" dirty="0"/>
              <a:t>Human Error:</a:t>
            </a:r>
            <a:r>
              <a:rPr lang="en-US" sz="2000" dirty="0"/>
              <a:t> Mistakes in manual marking and data entry for results.</a:t>
            </a:r>
          </a:p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1A25F-E2DD-F847-0025-7707DC8C0B42}"/>
              </a:ext>
            </a:extLst>
          </p:cNvPr>
          <p:cNvSpPr txBox="1"/>
          <p:nvPr/>
        </p:nvSpPr>
        <p:spPr>
          <a:xfrm>
            <a:off x="550416" y="3756305"/>
            <a:ext cx="8460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784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3963">
        <p15:prstTrans prst="peelOff"/>
      </p:transition>
    </mc:Choice>
    <mc:Fallback xmlns="">
      <p:transition spd="slow" advTm="23963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2482932-B83B-0B54-085E-3B3A5932A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92151D37-B8E0-B876-4547-F029923D01C9}"/>
              </a:ext>
            </a:extLst>
          </p:cNvPr>
          <p:cNvGrpSpPr/>
          <p:nvPr/>
        </p:nvGrpSpPr>
        <p:grpSpPr>
          <a:xfrm>
            <a:off x="160420" y="1448425"/>
            <a:ext cx="4344403" cy="430887"/>
            <a:chOff x="4181256" y="3149037"/>
            <a:chExt cx="4344403" cy="430887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E4A7183F-E94F-E8D9-1986-4F12BDD3A925}"/>
                </a:ext>
              </a:extLst>
            </p:cNvPr>
            <p:cNvSpPr/>
            <p:nvPr/>
          </p:nvSpPr>
          <p:spPr>
            <a:xfrm>
              <a:off x="4328626" y="3149037"/>
              <a:ext cx="4197033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Objective of the Project</a:t>
              </a:r>
              <a:endParaRPr sz="2800"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3FEF93F0-2720-ABD7-1BAC-A0BA38B5DF6E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A2654EC-F1AA-C848-62AF-AC30D1A1A5AE}"/>
              </a:ext>
            </a:extLst>
          </p:cNvPr>
          <p:cNvSpPr/>
          <p:nvPr/>
        </p:nvSpPr>
        <p:spPr>
          <a:xfrm>
            <a:off x="710836" y="357668"/>
            <a:ext cx="850832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400" dirty="0">
                <a:solidFill>
                  <a:schemeClr val="lt1"/>
                </a:solidFill>
              </a:rPr>
              <a:t>Online Examination System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632631-E594-BFC9-A227-184B34D83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98650"/>
            <a:ext cx="9819583" cy="4971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b="1" u="sng" dirty="0"/>
              <a:t>Main Goals</a:t>
            </a:r>
            <a:r>
              <a:rPr lang="en-US" sz="1600" b="1" dirty="0"/>
              <a:t>:</a:t>
            </a:r>
            <a:r>
              <a:rPr lang="en-US" sz="1600" dirty="0"/>
              <a:t> To provide a scalable, tamper-proof platform that automates assessment while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    ensuring high security and integrity through user authentication.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b="1" u="sng" dirty="0"/>
              <a:t>Expected Outcomes:</a:t>
            </a:r>
            <a:r>
              <a:rPr lang="en-US" sz="1600" u="sng" dirty="0"/>
              <a:t> 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600" dirty="0"/>
              <a:t> </a:t>
            </a:r>
            <a:r>
              <a:rPr lang="en-US" sz="1600" b="1" dirty="0"/>
              <a:t>Automated Evaluation:</a:t>
            </a:r>
            <a:r>
              <a:rPr lang="en-US" sz="1600" dirty="0"/>
              <a:t> The system will instantly grade objective tests, eliminating human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      error and manual labor.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600" b="1" dirty="0"/>
              <a:t> Enhanced Security:</a:t>
            </a:r>
            <a:r>
              <a:rPr lang="en-US" sz="1600" dirty="0"/>
              <a:t> Features like randomized question sets and timed sessions will prevent cheating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     and unauthorized access.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600" b="1" dirty="0"/>
              <a:t>Accessibility:</a:t>
            </a:r>
            <a:r>
              <a:rPr lang="en-US" sz="1600" dirty="0"/>
              <a:t> Students can securely take examinations from any location, reducing the need for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    physical infrastructure.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5737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558">
        <p15:prstTrans prst="peelOff"/>
      </p:transition>
    </mc:Choice>
    <mc:Fallback xmlns="">
      <p:transition spd="slow" advTm="2558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0E1FBCD-19A6-ABFC-D4AB-0BDB53A7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8055310A-EB77-F2B7-6EA4-032AA3C14356}"/>
              </a:ext>
            </a:extLst>
          </p:cNvPr>
          <p:cNvGrpSpPr/>
          <p:nvPr/>
        </p:nvGrpSpPr>
        <p:grpSpPr>
          <a:xfrm>
            <a:off x="710835" y="1508156"/>
            <a:ext cx="4379914" cy="430887"/>
            <a:chOff x="4181255" y="3149038"/>
            <a:chExt cx="4379914" cy="430887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AA9AF2F5-8190-D87E-D70D-DAEF786C0BC7}"/>
                </a:ext>
              </a:extLst>
            </p:cNvPr>
            <p:cNvSpPr/>
            <p:nvPr/>
          </p:nvSpPr>
          <p:spPr>
            <a:xfrm>
              <a:off x="4364136" y="3149038"/>
              <a:ext cx="4197033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Proposed Solution</a:t>
              </a:r>
              <a:endParaRPr sz="2800"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CE9CC80D-D795-CAD9-EC05-452BE27A7048}"/>
                </a:ext>
              </a:extLst>
            </p:cNvPr>
            <p:cNvSpPr/>
            <p:nvPr/>
          </p:nvSpPr>
          <p:spPr>
            <a:xfrm>
              <a:off x="4181255" y="3224809"/>
              <a:ext cx="45719" cy="355116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B35FBEF-9E92-07A1-B120-5ACAC3720BA1}"/>
              </a:ext>
            </a:extLst>
          </p:cNvPr>
          <p:cNvSpPr/>
          <p:nvPr/>
        </p:nvSpPr>
        <p:spPr>
          <a:xfrm>
            <a:off x="710836" y="357668"/>
            <a:ext cx="85083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400" dirty="0">
                <a:solidFill>
                  <a:schemeClr val="lt1"/>
                </a:solidFill>
              </a:rPr>
              <a:t>Online Examination System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47457F-6E66-65D6-13F6-D9683E4D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257" y="2327097"/>
            <a:ext cx="8065028" cy="1985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The proposed solution is to develop a </a:t>
            </a:r>
            <a:r>
              <a:rPr lang="en-US" sz="1600" b="1" dirty="0"/>
              <a:t>web-based Online Examination System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that automates the entire examination process, making it more efficient, secure,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 and user-friendly. The system will reduce manual work and provide a reliable platform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for conducting exams online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6815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917">
        <p15:prstTrans prst="peelOff"/>
      </p:transition>
    </mc:Choice>
    <mc:Fallback xmlns="">
      <p:transition spd="slow" advTm="1917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80916A-19BC-00C7-862B-F957F605E82B}"/>
              </a:ext>
            </a:extLst>
          </p:cNvPr>
          <p:cNvSpPr txBox="1"/>
          <p:nvPr/>
        </p:nvSpPr>
        <p:spPr>
          <a:xfrm>
            <a:off x="2474651" y="3277331"/>
            <a:ext cx="4949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lt1"/>
                </a:solidFill>
              </a:rPr>
              <a:t>Examination System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 System</a:t>
            </a:r>
            <a:endParaRPr lang="en-US" sz="1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32C59-AB00-9D36-32D8-2A1BABD1C866}"/>
              </a:ext>
            </a:extLst>
          </p:cNvPr>
          <p:cNvSpPr txBox="1"/>
          <p:nvPr/>
        </p:nvSpPr>
        <p:spPr>
          <a:xfrm>
            <a:off x="625875" y="310718"/>
            <a:ext cx="4323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</a:rPr>
              <a:t>Online Examination System</a:t>
            </a:r>
          </a:p>
          <a:p>
            <a:endParaRPr lang="en-IN" sz="2000" dirty="0"/>
          </a:p>
        </p:txBody>
      </p:sp>
      <p:sp>
        <p:nvSpPr>
          <p:cNvPr id="7" name="Google Shape;89;p2">
            <a:extLst>
              <a:ext uri="{FF2B5EF4-FFF2-40B4-BE49-F238E27FC236}">
                <a16:creationId xmlns:a16="http://schemas.microsoft.com/office/drawing/2014/main" id="{F2C87D5F-1E4E-2544-9B4A-390EE9BF1B6D}"/>
              </a:ext>
            </a:extLst>
          </p:cNvPr>
          <p:cNvSpPr/>
          <p:nvPr/>
        </p:nvSpPr>
        <p:spPr>
          <a:xfrm>
            <a:off x="847862" y="1379741"/>
            <a:ext cx="41970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System Architecture / Flow Diagram</a:t>
            </a:r>
            <a:endParaRPr dirty="0"/>
          </a:p>
        </p:txBody>
      </p:sp>
      <p:sp>
        <p:nvSpPr>
          <p:cNvPr id="8" name="Google Shape;90;p2">
            <a:extLst>
              <a:ext uri="{FF2B5EF4-FFF2-40B4-BE49-F238E27FC236}">
                <a16:creationId xmlns:a16="http://schemas.microsoft.com/office/drawing/2014/main" id="{7DABABC8-0FBC-4178-B45D-5CC634FB545E}"/>
              </a:ext>
            </a:extLst>
          </p:cNvPr>
          <p:cNvSpPr/>
          <p:nvPr/>
        </p:nvSpPr>
        <p:spPr>
          <a:xfrm>
            <a:off x="710836" y="1379741"/>
            <a:ext cx="36000" cy="252000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5ADDA1-CCE6-2B5D-3505-ADAA4B81B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76" y="1656740"/>
            <a:ext cx="8646852" cy="48905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276967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15">
        <p15:prstTrans prst="peelOff"/>
      </p:transition>
    </mc:Choice>
    <mc:Fallback xmlns="">
      <p:transition spd="slow" advTm="415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830621B-B893-831E-FF1F-1B49F3CE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3765C36A-27A3-80B8-5DAD-3BE08E0A3CC2}"/>
              </a:ext>
            </a:extLst>
          </p:cNvPr>
          <p:cNvGrpSpPr/>
          <p:nvPr/>
        </p:nvGrpSpPr>
        <p:grpSpPr>
          <a:xfrm>
            <a:off x="808490" y="1236580"/>
            <a:ext cx="4286803" cy="307777"/>
            <a:chOff x="4181256" y="3189814"/>
            <a:chExt cx="4286803" cy="307777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EE6A1548-9AEF-D849-DF96-93703211C502}"/>
                </a:ext>
              </a:extLst>
            </p:cNvPr>
            <p:cNvSpPr/>
            <p:nvPr/>
          </p:nvSpPr>
          <p:spPr>
            <a:xfrm>
              <a:off x="4364136" y="3189814"/>
              <a:ext cx="410392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Tools, Technologies &amp; Libraries</a:t>
              </a:r>
              <a:endParaRPr sz="2000"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6B5C259F-53DB-E23B-F121-A773C42585EC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224B7AB-0AB2-DA02-A151-2896E7A85FF3}"/>
              </a:ext>
            </a:extLst>
          </p:cNvPr>
          <p:cNvSpPr/>
          <p:nvPr/>
        </p:nvSpPr>
        <p:spPr>
          <a:xfrm>
            <a:off x="719714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3D2CA4-118E-7A8F-7DC8-5B10B4F5D622}"/>
              </a:ext>
            </a:extLst>
          </p:cNvPr>
          <p:cNvSpPr txBox="1"/>
          <p:nvPr/>
        </p:nvSpPr>
        <p:spPr>
          <a:xfrm>
            <a:off x="630315" y="1523575"/>
            <a:ext cx="6142382" cy="2214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1800" b="1" dirty="0"/>
              <a:t>Programming Language – Python</a:t>
            </a:r>
          </a:p>
          <a:p>
            <a:r>
              <a:rPr lang="en-US" sz="1600" dirty="0"/>
              <a:t> We have used </a:t>
            </a:r>
            <a:r>
              <a:rPr lang="en-US" sz="1600" b="1" dirty="0"/>
              <a:t>Python</a:t>
            </a:r>
            <a:r>
              <a:rPr lang="en-US" sz="1600" dirty="0"/>
              <a:t> as the main programming language.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250000"/>
              </a:lnSpc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1542E8-5803-7346-7BA0-F7B82CDB920A}"/>
              </a:ext>
            </a:extLst>
          </p:cNvPr>
          <p:cNvSpPr txBox="1"/>
          <p:nvPr/>
        </p:nvSpPr>
        <p:spPr>
          <a:xfrm>
            <a:off x="630315" y="2524359"/>
            <a:ext cx="666601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 dirty="0"/>
              <a:t>Web Framework – Django </a:t>
            </a:r>
            <a:r>
              <a:rPr lang="en-US" sz="1800" dirty="0"/>
              <a:t>to develop the web application.</a:t>
            </a:r>
            <a:endParaRPr lang="en-IN" sz="1800" b="1" dirty="0"/>
          </a:p>
          <a:p>
            <a:r>
              <a:rPr lang="en-US" sz="1600" b="1" dirty="0"/>
              <a:t>Django manages</a:t>
            </a:r>
            <a:r>
              <a:rPr lang="en-US" sz="1600" dirty="0"/>
              <a:t>:</a:t>
            </a:r>
          </a:p>
          <a:p>
            <a:pPr marL="342900" lvl="1" indent="-342900">
              <a:buFont typeface="+mj-lt"/>
              <a:buAutoNum type="alphaLcPeriod"/>
            </a:pPr>
            <a:r>
              <a:rPr lang="en-US" sz="1600" dirty="0"/>
              <a:t>     User authentication (Student, Teacher, Admin)</a:t>
            </a:r>
          </a:p>
          <a:p>
            <a:pPr marL="342900" lvl="1" indent="-342900">
              <a:buFont typeface="+mj-lt"/>
              <a:buAutoNum type="alphaLcPeriod"/>
            </a:pPr>
            <a:r>
              <a:rPr lang="en-US" sz="1600" dirty="0"/>
              <a:t>     Database handling</a:t>
            </a:r>
          </a:p>
          <a:p>
            <a:pPr marL="342900" lvl="1" indent="-342900">
              <a:buFont typeface="+mj-lt"/>
              <a:buAutoNum type="alphaLcPeriod"/>
            </a:pPr>
            <a:r>
              <a:rPr lang="en-US" sz="1600" dirty="0"/>
              <a:t>     Form processing</a:t>
            </a:r>
          </a:p>
          <a:p>
            <a:pPr marL="342900" lvl="1" indent="-342900">
              <a:buFont typeface="+mj-lt"/>
              <a:buAutoNum type="alphaLcPeriod"/>
            </a:pPr>
            <a:r>
              <a:rPr lang="en-US" sz="1600" dirty="0"/>
              <a:t>     URL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6B4CC-0444-3971-AB39-CE9BAD0E3DE3}"/>
              </a:ext>
            </a:extLst>
          </p:cNvPr>
          <p:cNvSpPr txBox="1"/>
          <p:nvPr/>
        </p:nvSpPr>
        <p:spPr>
          <a:xfrm>
            <a:off x="630315" y="3879542"/>
            <a:ext cx="59693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fr-FR" sz="1800" b="1" dirty="0"/>
              <a:t>Frontend Technologies – </a:t>
            </a:r>
            <a:r>
              <a:rPr lang="fr-FR" sz="1800" dirty="0"/>
              <a:t>HTML, CSS, JavaScript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 dirty="0"/>
              <a:t>Database – SQLite </a:t>
            </a:r>
            <a:r>
              <a:rPr lang="en-IN" sz="1800" dirty="0"/>
              <a:t>(default Django database) </a:t>
            </a:r>
            <a:endParaRPr lang="en-IN" sz="1800" b="1" dirty="0"/>
          </a:p>
          <a:p>
            <a:r>
              <a:rPr lang="en-IN" sz="1600" dirty="0"/>
              <a:t>      We used </a:t>
            </a:r>
            <a:r>
              <a:rPr lang="en-IN" sz="1600" b="1" dirty="0"/>
              <a:t>SQLite</a:t>
            </a:r>
            <a:r>
              <a:rPr lang="en-IN" sz="1600" dirty="0"/>
              <a:t> for storing data. </a:t>
            </a:r>
          </a:p>
          <a:p>
            <a:r>
              <a:rPr lang="en-IN" sz="1600" dirty="0"/>
              <a:t>      </a:t>
            </a:r>
            <a:r>
              <a:rPr lang="en-US" sz="1600" dirty="0"/>
              <a:t>It stores: User details,  Questions , Answers ,Results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Development Tools</a:t>
            </a:r>
          </a:p>
          <a:p>
            <a:pPr marL="342900" indent="-342900">
              <a:buFont typeface="+mj-lt"/>
              <a:buAutoNum type="alphaLcPeriod"/>
            </a:pPr>
            <a:r>
              <a:rPr lang="en-US" b="1" dirty="0"/>
              <a:t>            </a:t>
            </a:r>
            <a:r>
              <a:rPr lang="en-US" sz="1600" dirty="0"/>
              <a:t>VS Code– For coding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600" dirty="0"/>
              <a:t>            Git – For version control 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600" dirty="0"/>
              <a:t>            Browser – For testing (Chrome/Edge)</a:t>
            </a:r>
          </a:p>
          <a:p>
            <a:pPr marL="342900" indent="-342900">
              <a:buFont typeface="+mj-lt"/>
              <a:buAutoNum type="alphaLcPeriod"/>
            </a:pPr>
            <a:endParaRPr lang="en-US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7950782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9">
        <p15:prstTrans prst="peelOff"/>
      </p:transition>
    </mc:Choice>
    <mc:Fallback xmlns="">
      <p:transition spd="slow" advTm="709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026E1E93-96BE-1014-B497-B952EBDC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EB8524AA-65E8-A24B-74F2-63CA6CB68109}"/>
              </a:ext>
            </a:extLst>
          </p:cNvPr>
          <p:cNvGrpSpPr/>
          <p:nvPr/>
        </p:nvGrpSpPr>
        <p:grpSpPr>
          <a:xfrm>
            <a:off x="710836" y="1276988"/>
            <a:ext cx="4371035" cy="276999"/>
            <a:chOff x="4181256" y="3199810"/>
            <a:chExt cx="4371035" cy="276999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35D8B2AE-3426-BAF2-0880-A153EC654F17}"/>
                </a:ext>
              </a:extLst>
            </p:cNvPr>
            <p:cNvSpPr/>
            <p:nvPr/>
          </p:nvSpPr>
          <p:spPr>
            <a:xfrm>
              <a:off x="4355258" y="3199810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Dataset Description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899AEA62-EFA6-7E29-9E1F-33A91C842184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5A06E43C-EFBB-AE1C-2884-5EB0D13BF41B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A1A0151-FB0C-7BB9-6439-87CD3D0AF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122" y="1871167"/>
            <a:ext cx="6873163" cy="7596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dirty="0"/>
              <a:t>The dataset used in our project is stored in a relational database (SQLite) and is managed using Django ORM. It contains structured data related to users, exams, questions, and results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IN" sz="1600" b="1" dirty="0"/>
              <a:t> </a:t>
            </a:r>
            <a:r>
              <a:rPr lang="en-IN" sz="1600" b="1" u="sng" dirty="0"/>
              <a:t>User Dataset</a:t>
            </a:r>
            <a:r>
              <a:rPr lang="en-IN" sz="1600" b="1" dirty="0"/>
              <a:t>:</a:t>
            </a:r>
            <a:r>
              <a:rPr lang="en-US" sz="1600" dirty="0"/>
              <a:t>This table stores information about all system users like name , password, role (Student / Teacher / Admin)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u="sng" dirty="0"/>
              <a:t>Student Dataset</a:t>
            </a:r>
            <a:r>
              <a:rPr lang="en-US" sz="1600" dirty="0"/>
              <a:t>:Student ID, Attempt Status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u="sng" dirty="0"/>
              <a:t>Teacher Dataset:</a:t>
            </a:r>
            <a:r>
              <a:rPr lang="en-US" sz="1600" dirty="0"/>
              <a:t>Teacher ID, Subject, Department</a:t>
            </a:r>
          </a:p>
          <a:p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u="sng" dirty="0"/>
              <a:t>Exam Dataset:</a:t>
            </a:r>
            <a:r>
              <a:rPr lang="en-US" sz="1600" dirty="0"/>
              <a:t>Exam Title, Subject, Total Marks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u="sng" dirty="0"/>
              <a:t>Question Dataset: </a:t>
            </a:r>
            <a:r>
              <a:rPr lang="en-US" sz="1600" dirty="0"/>
              <a:t>Question Text, Option A, B, C, D, Correct Answer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b="1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IN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9646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76">
        <p15:prstTrans prst="peelOff"/>
      </p:transition>
    </mc:Choice>
    <mc:Fallback xmlns="">
      <p:transition spd="slow" advTm="176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7B308FF-814A-D289-9712-1F135517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5F3AD51A-CFAA-1F26-F161-083875E52E0C}"/>
              </a:ext>
            </a:extLst>
          </p:cNvPr>
          <p:cNvGrpSpPr/>
          <p:nvPr/>
        </p:nvGrpSpPr>
        <p:grpSpPr>
          <a:xfrm>
            <a:off x="293585" y="1486272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DD15EF8D-9EA7-264A-2B45-B5267B60EB9C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Methodology / Implementation Steps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4BD15D64-4EDF-81F2-630F-6728A8C9C96F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CD51A9C-B4FA-0069-9BDF-C6CB1005BB81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Online Examination System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C2E9EF-54E7-A8DF-E645-3A8D210D4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98" y="2259296"/>
            <a:ext cx="5381677" cy="3491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b="1" dirty="0"/>
              <a:t>1. Coding Logic</a:t>
            </a:r>
          </a:p>
          <a:p>
            <a:pPr marL="342900" indent="-342900">
              <a:buAutoNum type="arabicPeriod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Users log in based on role (Admin/Teacher/Student).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Teacher creates exams and adds questions..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System saves answers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Answers are evaluated and result is generated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2.  Algorithm Used</a:t>
            </a:r>
          </a:p>
          <a:p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Authentication Algorithm (for login)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Evaluation Algorithm (for scoring)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Role-Based Access Control (for security)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47675" algn="l"/>
              </a:tabLst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BF6C32-425D-D6BA-1256-20CF5FFC5363}"/>
              </a:ext>
            </a:extLst>
          </p:cNvPr>
          <p:cNvSpPr txBox="1"/>
          <p:nvPr/>
        </p:nvSpPr>
        <p:spPr>
          <a:xfrm>
            <a:off x="5435565" y="2180878"/>
            <a:ext cx="324922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3</a:t>
            </a:r>
            <a:r>
              <a:rPr lang="en-IN" sz="1600" b="1" dirty="0"/>
              <a:t>. Flow of Code Modules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User Module: Login/registration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Exam Module: Create and manage exams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Question Module: Store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Submission Module: Save student answers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Evaluation Module: Check answers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Result Module: Display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D8BDB-5EA8-8C0A-DF18-E428817A0F7A}"/>
              </a:ext>
            </a:extLst>
          </p:cNvPr>
          <p:cNvSpPr txBox="1"/>
          <p:nvPr/>
        </p:nvSpPr>
        <p:spPr>
          <a:xfrm>
            <a:off x="169298" y="5849980"/>
            <a:ext cx="9667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User Module → Exam Module → Question Module → Submission Module → Evaluation Module → Result Module</a:t>
            </a:r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309279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996">
        <p15:prstTrans prst="peelOff"/>
      </p:transition>
    </mc:Choice>
    <mc:Fallback xmlns="">
      <p:transition spd="slow" advTm="996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F7BEB051-8142-E367-3920-D6E37DF73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41718C6F-B8DE-CA8A-240E-68218888EE1A}"/>
              </a:ext>
            </a:extLst>
          </p:cNvPr>
          <p:cNvGrpSpPr/>
          <p:nvPr/>
        </p:nvGrpSpPr>
        <p:grpSpPr>
          <a:xfrm>
            <a:off x="710836" y="1326578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5EE604B8-B3E1-8475-4C2B-66D77123761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Results &amp; Performance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49983E4E-AEDD-2034-DC42-A184C1C02DCD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E6A5745-51F5-A468-15F6-90E7A5604CDA}"/>
              </a:ext>
            </a:extLst>
          </p:cNvPr>
          <p:cNvSpPr/>
          <p:nvPr/>
        </p:nvSpPr>
        <p:spPr>
          <a:xfrm>
            <a:off x="710836" y="357668"/>
            <a:ext cx="850832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400" dirty="0">
                <a:solidFill>
                  <a:schemeClr val="lt1"/>
                </a:solidFill>
              </a:rPr>
              <a:t>Online Examination System</a:t>
            </a:r>
          </a:p>
          <a:p>
            <a:pPr lvl="0"/>
            <a:endParaRPr lang="en-IN" sz="2400" dirty="0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BE643A-C509-D540-A303-6D26B8B5A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05" y="1846047"/>
            <a:ext cx="7349598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1600" b="1" dirty="0"/>
              <a:t>Result / Final Outcome: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Developed a secure online exam system.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Automated exam and result process.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Reduced manual work.</a:t>
            </a:r>
          </a:p>
          <a:p>
            <a:endParaRPr lang="en-US" sz="1600" dirty="0"/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Key Findings: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/>
              <a:t>.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Saves time and improves accuracy.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Easy to manage exams online.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Secure and reliable system.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User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Time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Backend integration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64BEA-2769-AE94-002E-9BA60F7EE66C}"/>
              </a:ext>
            </a:extLst>
          </p:cNvPr>
          <p:cNvSpPr txBox="1"/>
          <p:nvPr/>
        </p:nvSpPr>
        <p:spPr>
          <a:xfrm>
            <a:off x="5259529" y="2846321"/>
            <a:ext cx="522894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Future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Mobile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Online proctoring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Cloud deployment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Features to Add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Auto-save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Random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Performance reports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6119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79">
        <p15:prstTrans prst="peelOff"/>
      </p:transition>
    </mc:Choice>
    <mc:Fallback xmlns="">
      <p:transition spd="slow" advTm="479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" y="0"/>
            <a:ext cx="9902826" cy="6858000"/>
            <a:chOff x="-1" y="0"/>
            <a:chExt cx="9902826" cy="6858000"/>
          </a:xfrm>
        </p:grpSpPr>
        <p:pic>
          <p:nvPicPr>
            <p:cNvPr id="11" name="그림 2">
              <a:extLst>
                <a:ext uri="{FF2B5EF4-FFF2-40B4-BE49-F238E27FC236}">
                  <a16:creationId xmlns:a16="http://schemas.microsoft.com/office/drawing/2014/main" id="{5DB88D6A-0437-41B5-8719-35E861A56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198"/>
              <a:ext cx="9902825" cy="6855802"/>
            </a:xfrm>
            <a:prstGeom prst="rect">
              <a:avLst/>
            </a:prstGeom>
          </p:spPr>
        </p:pic>
        <p:sp>
          <p:nvSpPr>
            <p:cNvPr id="13" name="직사각형 17">
              <a:extLst>
                <a:ext uri="{FF2B5EF4-FFF2-40B4-BE49-F238E27FC236}">
                  <a16:creationId xmlns:a16="http://schemas.microsoft.com/office/drawing/2014/main" id="{789C5074-4DAE-4026-AD47-B9945924B2E2}"/>
                </a:ext>
              </a:extLst>
            </p:cNvPr>
            <p:cNvSpPr/>
            <p:nvPr/>
          </p:nvSpPr>
          <p:spPr>
            <a:xfrm>
              <a:off x="-1" y="0"/>
              <a:ext cx="9902826" cy="6858000"/>
            </a:xfrm>
            <a:prstGeom prst="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" panose="020B0503030303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4" name="직선 연결선 11">
              <a:extLst>
                <a:ext uri="{FF2B5EF4-FFF2-40B4-BE49-F238E27FC236}">
                  <a16:creationId xmlns:a16="http://schemas.microsoft.com/office/drawing/2014/main" id="{8F374A7D-F260-4587-9A59-12BC85A3DDC1}"/>
                </a:ext>
              </a:extLst>
            </p:cNvPr>
            <p:cNvCxnSpPr/>
            <p:nvPr/>
          </p:nvCxnSpPr>
          <p:spPr>
            <a:xfrm>
              <a:off x="656391" y="2327183"/>
              <a:ext cx="0" cy="197605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33">
              <a:extLst>
                <a:ext uri="{FF2B5EF4-FFF2-40B4-BE49-F238E27FC236}">
                  <a16:creationId xmlns:a16="http://schemas.microsoft.com/office/drawing/2014/main" id="{D24015EF-24A9-454E-B555-41065A382381}"/>
                </a:ext>
              </a:extLst>
            </p:cNvPr>
            <p:cNvSpPr/>
            <p:nvPr/>
          </p:nvSpPr>
          <p:spPr>
            <a:xfrm>
              <a:off x="848337" y="2399574"/>
              <a:ext cx="8398097" cy="18312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Samsung Sharp Sans" pitchFamily="2" charset="0"/>
                  <a:cs typeface="Samsung Sharp Sans" pitchFamily="2" charset="0"/>
                </a:rPr>
                <a:t>Thank You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2400" b="1" kern="1200" dirty="0">
                <a:solidFill>
                  <a:prstClr val="white"/>
                </a:solidFill>
                <a:latin typeface="+mj-lt"/>
                <a:ea typeface="Samsung Sharp Sans" pitchFamily="2" charset="0"/>
                <a:cs typeface="Samsung Sharp Sans" pitchFamily="2" charset="0"/>
              </a:endParaRPr>
            </a:p>
            <a:p>
              <a:pPr lvl="0" latinLnBrk="1">
                <a:buClrTx/>
                <a:defRPr/>
              </a:pPr>
              <a:r>
                <a:rPr lang="en-IN" sz="4000" b="1" dirty="0"/>
                <a:t>Open for questions</a:t>
              </a:r>
              <a:endParaRPr kumimoji="0" lang="en-US" altLang="ko-KR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Samsung Sharp Sans" pitchFamily="2" charset="0"/>
                <a:cs typeface="Samsung Sharp Sans" pitchFamily="2" charset="0"/>
              </a:endParaRPr>
            </a:p>
          </p:txBody>
        </p:sp>
      </p:grpSp>
      <p:cxnSp>
        <p:nvCxnSpPr>
          <p:cNvPr id="21" name="직선 연결선 8">
            <a:extLst>
              <a:ext uri="{FF2B5EF4-FFF2-40B4-BE49-F238E27FC236}">
                <a16:creationId xmlns:a16="http://schemas.microsoft.com/office/drawing/2014/main" id="{25DE7436-47BD-40B7-92CB-A7CD2878D696}"/>
              </a:ext>
            </a:extLst>
          </p:cNvPr>
          <p:cNvCxnSpPr/>
          <p:nvPr/>
        </p:nvCxnSpPr>
        <p:spPr>
          <a:xfrm>
            <a:off x="569681" y="6209429"/>
            <a:ext cx="87743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7">
            <a:extLst>
              <a:ext uri="{FF2B5EF4-FFF2-40B4-BE49-F238E27FC236}">
                <a16:creationId xmlns:a16="http://schemas.microsoft.com/office/drawing/2014/main" id="{7FDCF192-C90A-4624-9B5C-7829663CF369}"/>
              </a:ext>
            </a:extLst>
          </p:cNvPr>
          <p:cNvSpPr/>
          <p:nvPr/>
        </p:nvSpPr>
        <p:spPr>
          <a:xfrm>
            <a:off x="572597" y="6355371"/>
            <a:ext cx="2888788" cy="200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3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29037022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647">
        <p15:prstTrans prst="peelOff"/>
      </p:transition>
    </mc:Choice>
    <mc:Fallback xmlns="">
      <p:transition spd="slow" advTm="647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7">
        <p15:prstTrans prst="peelOff"/>
      </p:transition>
    </mc:Choice>
    <mc:Fallback xmlns="">
      <p:transition spd="slow" advTm="77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753</Words>
  <Application>Microsoft Office PowerPoint</Application>
  <PresentationFormat>Custom</PresentationFormat>
  <Paragraphs>147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Malgun Gothic</vt:lpstr>
      <vt:lpstr>Arial</vt:lpstr>
      <vt:lpstr>Calibri</vt:lpstr>
      <vt:lpstr>Samsung Sharp Sans Bold</vt:lpstr>
      <vt:lpstr>SamsungOne 400</vt:lpstr>
      <vt:lpstr>SamsungSharpSans-Medium</vt:lpstr>
      <vt:lpstr>Wingdings</vt:lpstr>
      <vt:lpstr>Office Theme</vt:lpstr>
      <vt:lpstr>Online Examination System(Examsphere)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Soon Yong Chang</dc:creator>
  <cp:lastModifiedBy>Arushi Kaushal</cp:lastModifiedBy>
  <cp:revision>15</cp:revision>
  <dcterms:created xsi:type="dcterms:W3CDTF">2019-07-06T14:12:49Z</dcterms:created>
  <dcterms:modified xsi:type="dcterms:W3CDTF">2026-02-06T09:01:00Z</dcterms:modified>
</cp:coreProperties>
</file>