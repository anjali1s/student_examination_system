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61" r:id="rId5"/>
    <p:sldId id="262" r:id="rId6"/>
    <p:sldId id="263" r:id="rId7"/>
    <p:sldId id="2691" r:id="rId8"/>
    <p:sldId id="264" r:id="rId9"/>
    <p:sldId id="2690" r:id="rId10"/>
    <p:sldId id="265" r:id="rId11"/>
    <p:sldId id="2694" r:id="rId12"/>
    <p:sldId id="266" r:id="rId13"/>
    <p:sldId id="268" r:id="rId14"/>
    <p:sldId id="2692" r:id="rId15"/>
    <p:sldId id="2693" r:id="rId16"/>
    <p:sldId id="2689" r:id="rId17"/>
    <p:sldId id="259" r:id="rId18"/>
  </p:sldIdLst>
  <p:sldSz cx="9902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135C1530-69CB-4491-A4A1-DFE2A76418C7}">
          <p14:sldIdLst>
            <p14:sldId id="256"/>
            <p14:sldId id="257"/>
            <p14:sldId id="260"/>
            <p14:sldId id="261"/>
            <p14:sldId id="262"/>
            <p14:sldId id="263"/>
            <p14:sldId id="2691"/>
            <p14:sldId id="264"/>
            <p14:sldId id="2690"/>
            <p14:sldId id="265"/>
            <p14:sldId id="2694"/>
            <p14:sldId id="266"/>
          </p14:sldIdLst>
        </p14:section>
        <p14:section name="Untitled Section" id="{B83A3E69-94A5-486D-9773-1C0C4848178F}">
          <p14:sldIdLst>
            <p14:sldId id="268"/>
            <p14:sldId id="2692"/>
            <p14:sldId id="2693"/>
            <p14:sldId id="2689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ao44pu+KCA6NTQBv1XWNfs34U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152" y="72"/>
      </p:cViewPr>
      <p:guideLst>
        <p:guide pos="311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AD157A8-1C1F-4A6B-F197-091732FF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A0922F1A-1AF4-1332-BE6E-BC9F3873E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ABD48EB9-8A42-8310-994F-C97BC51CB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5344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27A3BD1-575B-073B-F078-26E32A83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31F31ABE-0D79-D68E-F3F8-BB7FACD4F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8688A882-4B64-10B1-C908-7341EDCA7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832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9630EBA-D568-4889-0B32-8981B2E4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0503F192-17FB-698E-ECD1-4CC8A60D6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DA251B28-FDCE-36D8-EB56-B7F8D5F44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126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35803BE-557E-7724-F461-5305773B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A2833593-2745-22BA-6E21-5E050C082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0C8E9160-D94B-B132-724C-C03BFA97E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5121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DB006D7-2A73-D1A8-CE19-E9C06F78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877BA6B0-3CB8-880D-4343-6F7704D6A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B14127E5-B5D5-EF13-C72C-84D4B12A7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8263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A6864B4-1019-CB0F-E6BE-955D64D2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1E7514A-FFC9-2FD3-4AEA-4BC170BFC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1D79D85D-84C2-C457-8350-E21292CF8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1417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E66DCE2-7338-9E45-CE05-90057930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E0BA2C6-E9E4-B3F2-C554-9C9CDA888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DAE23B58-2A71-463E-2404-9E89C5E84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2892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F8F98BC-E3B6-F419-C472-5D77EAB4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27501FA-503D-5B43-871C-509C515CC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F835542A-A1D7-E0B9-5A3B-F454ECAC6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941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F2F2F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Coding and Programming Course</a:t>
            </a:r>
            <a:endParaRPr sz="2400" b="0" i="0" u="none" strike="noStrike" cap="non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2">
  <p:cSld name="3_Table of Contents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2">
  <p:cSld name="2_Table of Contents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C&amp;P Course</a:t>
            </a:r>
            <a:endParaRPr sz="210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">
  <p:cSld name="3_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able of Contents">
  <p:cSld name="1_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">
  <p:cSld name="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w="15875" cap="flat" cmpd="sng">
            <a:solidFill>
              <a:srgbClr val="0924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ody">
  <p:cSld name="1_Body">
    <p:bg>
      <p:bgPr>
        <a:solidFill>
          <a:srgbClr val="F2F2F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 Ti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5">
            <a:extLst>
              <a:ext uri="{FF2B5EF4-FFF2-40B4-BE49-F238E27FC236}">
                <a16:creationId xmlns:a16="http://schemas.microsoft.com/office/drawing/2014/main" id="{1B2B22C2-BBD9-4044-B049-D10CDF14FDE6}"/>
              </a:ext>
            </a:extLst>
          </p:cNvPr>
          <p:cNvSpPr txBox="1">
            <a:spLocks/>
          </p:cNvSpPr>
          <p:nvPr userDrawn="1"/>
        </p:nvSpPr>
        <p:spPr>
          <a:xfrm>
            <a:off x="6324398" y="6347711"/>
            <a:ext cx="243335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kern="1200" dirty="0">
                <a:solidFill>
                  <a:schemeClr val="bg1">
                    <a:lumMod val="50000"/>
                  </a:schemeClr>
                </a:solidFill>
                <a:latin typeface="SamsungSharpSans-Medium" pitchFamily="2" charset="0"/>
                <a:ea typeface="SamsungSharpSans-Medium" pitchFamily="2" charset="0"/>
                <a:cs typeface="SamsungSharpSans-Medium" pitchFamily="2" charset="0"/>
              </a:rPr>
              <a:t>Chapter 2. Math for Data Science</a:t>
            </a:r>
            <a:endParaRPr lang="ko-KR" altLang="en-US" sz="1100" kern="1200" dirty="0">
              <a:solidFill>
                <a:schemeClr val="bg1">
                  <a:lumMod val="50000"/>
                </a:schemeClr>
              </a:solidFill>
              <a:latin typeface="SamsungSharpSans-Medium" pitchFamily="2" charset="0"/>
              <a:ea typeface="SamsungSharpSans-Medium" pitchFamily="2" charset="0"/>
              <a:cs typeface="SamsungSharpSans-Medium" pitchFamily="2" charset="0"/>
            </a:endParaRPr>
          </a:p>
        </p:txBody>
      </p:sp>
      <p:sp>
        <p:nvSpPr>
          <p:cNvPr id="3" name="슬라이드 번호 개체 틀 15">
            <a:extLst>
              <a:ext uri="{FF2B5EF4-FFF2-40B4-BE49-F238E27FC236}">
                <a16:creationId xmlns:a16="http://schemas.microsoft.com/office/drawing/2014/main" id="{8C6D6C91-60C1-41CF-B03F-1735A6A41637}"/>
              </a:ext>
            </a:extLst>
          </p:cNvPr>
          <p:cNvSpPr txBox="1">
            <a:spLocks/>
          </p:cNvSpPr>
          <p:nvPr userDrawn="1"/>
        </p:nvSpPr>
        <p:spPr>
          <a:xfrm>
            <a:off x="8805867" y="6347726"/>
            <a:ext cx="538163" cy="16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1100" smtClean="0"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Arial Unicode MS" panose="020B0604020202020204" pitchFamily="50" charset="-127"/>
              </a:rPr>
              <a:t>/44</a:t>
            </a:r>
          </a:p>
        </p:txBody>
      </p:sp>
    </p:spTree>
    <p:extLst>
      <p:ext uri="{BB962C8B-B14F-4D97-AF65-F5344CB8AC3E}">
        <p14:creationId xmlns:p14="http://schemas.microsoft.com/office/powerpoint/2010/main" val="33067063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Fusion Five</a:t>
            </a:r>
            <a:endParaRPr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3" name="Google Shape;83;p1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647979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dirty="0"/>
              <a:t>Online Examination System(</a:t>
            </a:r>
            <a:r>
              <a:rPr lang="en-US" dirty="0" err="1"/>
              <a:t>Examsphere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8700">
        <p15:prstTrans prst="peelOff"/>
      </p:transition>
    </mc:Choice>
    <mc:Fallback>
      <p:transition spd="slow" advTm="18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401990" y="1253067"/>
            <a:ext cx="4710324" cy="4041196"/>
            <a:chOff x="3768859" y="3224809"/>
            <a:chExt cx="6032132" cy="2968588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About our Team</a:t>
              </a:r>
              <a:endParaRPr sz="2400"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768859" y="3842093"/>
              <a:ext cx="6032132" cy="2351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IN" sz="2400" b="1" u="sng" dirty="0"/>
                <a:t>Team Name</a:t>
              </a:r>
              <a:r>
                <a:rPr lang="en-IN" sz="2400" u="sng" dirty="0"/>
                <a:t>: Fusion five</a:t>
              </a:r>
            </a:p>
            <a:p>
              <a:pPr lvl="0">
                <a:lnSpc>
                  <a:spcPct val="200000"/>
                </a:lnSpc>
              </a:pPr>
              <a:r>
                <a:rPr lang="en-IN" sz="1600" b="1" dirty="0"/>
                <a:t>Project Title</a:t>
              </a:r>
              <a:r>
                <a:rPr lang="en-IN" sz="1600" dirty="0"/>
                <a:t>: Online Examination System</a:t>
              </a:r>
            </a:p>
            <a:p>
              <a:pPr lvl="0">
                <a:lnSpc>
                  <a:spcPct val="200000"/>
                </a:lnSpc>
              </a:pPr>
              <a:r>
                <a:rPr lang="en-IN" sz="1600" b="1" dirty="0"/>
                <a:t>Course: SIC Coding &amp; Programming</a:t>
              </a:r>
            </a:p>
            <a:p>
              <a:pPr lvl="0">
                <a:lnSpc>
                  <a:spcPct val="200000"/>
                </a:lnSpc>
              </a:pPr>
              <a:r>
                <a:rPr lang="en-IN" sz="1600" b="1" dirty="0"/>
                <a:t>College :</a:t>
              </a:r>
              <a:r>
                <a:rPr lang="en-IN" dirty="0"/>
                <a:t>RAYAT BAHRA UNIVERSITY,KHARAR(MOHALI)  </a:t>
              </a:r>
              <a:endParaRPr lang="en-IN" sz="1600" dirty="0"/>
            </a:p>
            <a:p>
              <a:pPr lvl="0">
                <a:lnSpc>
                  <a:spcPct val="200000"/>
                </a:lnSpc>
              </a:pPr>
              <a:r>
                <a:rPr lang="en-IN" sz="1600" b="1" dirty="0"/>
                <a:t>Batch Code :</a:t>
              </a:r>
              <a:r>
                <a:rPr lang="en-IN" sz="1600" dirty="0"/>
                <a:t>25037</a:t>
              </a: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72B19-2E46-6532-009D-7301CB7081C2}"/>
              </a:ext>
            </a:extLst>
          </p:cNvPr>
          <p:cNvSpPr txBox="1"/>
          <p:nvPr/>
        </p:nvSpPr>
        <p:spPr>
          <a:xfrm>
            <a:off x="4696975" y="2193126"/>
            <a:ext cx="4710325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IN" sz="1800" b="1" u="sng" dirty="0"/>
              <a:t>Team Members &amp; Role: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Ms. ARUSHI KAUSHAL(Team leader)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Mr. Furkan  Fayaz(Presentation &amp; Demo)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Mr. Aryan (Data Lead)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Ms. Anjali Sharma(Model Builder)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Mr. Anmol Singh(Research &amp; Testing)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72F82A-BA23-DDC3-1718-D4522E7C7BCB}"/>
              </a:ext>
            </a:extLst>
          </p:cNvPr>
          <p:cNvCxnSpPr>
            <a:cxnSpLocks/>
          </p:cNvCxnSpPr>
          <p:nvPr/>
        </p:nvCxnSpPr>
        <p:spPr>
          <a:xfrm>
            <a:off x="4427629" y="994300"/>
            <a:ext cx="0" cy="54153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9062">
        <p15:prstTrans prst="peelOff"/>
      </p:transition>
    </mc:Choice>
    <mc:Fallback>
      <p:transition spd="slow" advTm="19062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A59423B-3E3F-8016-E4CB-1FF9A8C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60768E0D-C8F8-3514-ABA2-839F1D3F5EDA}"/>
              </a:ext>
            </a:extLst>
          </p:cNvPr>
          <p:cNvGrpSpPr/>
          <p:nvPr/>
        </p:nvGrpSpPr>
        <p:grpSpPr>
          <a:xfrm>
            <a:off x="266608" y="1533446"/>
            <a:ext cx="4388791" cy="492443"/>
            <a:chOff x="4181256" y="3080836"/>
            <a:chExt cx="4388791" cy="492443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6EE9B28F-17EA-AFD1-6211-C1BD78BE8CF7}"/>
                </a:ext>
              </a:extLst>
            </p:cNvPr>
            <p:cNvSpPr/>
            <p:nvPr/>
          </p:nvSpPr>
          <p:spPr>
            <a:xfrm>
              <a:off x="4373014" y="3080836"/>
              <a:ext cx="4197033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200"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02FF4208-F554-E9D6-EF6F-FC55C17522C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D05678-D32A-AB30-6669-04022657530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</a:t>
            </a:r>
            <a:r>
              <a:rPr lang="en-IN" sz="2400" dirty="0">
                <a:solidFill>
                  <a:schemeClr val="lt1"/>
                </a:solidFill>
              </a:rPr>
              <a:t>E</a:t>
            </a: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xamination System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4A3B9-5DC3-2B1E-1456-617DA4DB7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75" y="2457416"/>
            <a:ext cx="9369873" cy="36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The current manual (pen-and-paper) examination system is inefficient and prone </a:t>
            </a:r>
          </a:p>
          <a:p>
            <a:r>
              <a:rPr lang="en-US" sz="2000" dirty="0"/>
              <a:t>to errors. Key issues include:</a:t>
            </a:r>
          </a:p>
          <a:p>
            <a:endParaRPr lang="en-US" sz="2000" dirty="0"/>
          </a:p>
          <a:p>
            <a:r>
              <a:rPr lang="en-US" sz="2000" b="1" dirty="0"/>
              <a:t>High Costs:</a:t>
            </a:r>
            <a:r>
              <a:rPr lang="en-US" sz="2000" dirty="0"/>
              <a:t> Large expenses for paper, printing, and logistics.</a:t>
            </a:r>
          </a:p>
          <a:p>
            <a:endParaRPr lang="en-US" sz="2000" b="1" dirty="0"/>
          </a:p>
          <a:p>
            <a:r>
              <a:rPr lang="en-US" sz="2000" b="1" dirty="0"/>
              <a:t>Time Delays:</a:t>
            </a:r>
            <a:r>
              <a:rPr lang="en-US" sz="2000" dirty="0"/>
              <a:t> Grading and result generation take weeks or months.</a:t>
            </a:r>
          </a:p>
          <a:p>
            <a:endParaRPr lang="en-US" sz="2000" b="1" dirty="0"/>
          </a:p>
          <a:p>
            <a:r>
              <a:rPr lang="en-US" sz="2000" b="1" dirty="0"/>
              <a:t>Security Risks:</a:t>
            </a:r>
            <a:r>
              <a:rPr lang="en-US" sz="2000" dirty="0"/>
              <a:t> High chance of question paper leakage and physical tampering.</a:t>
            </a:r>
          </a:p>
          <a:p>
            <a:endParaRPr lang="en-US" sz="2000" b="1" dirty="0"/>
          </a:p>
          <a:p>
            <a:r>
              <a:rPr lang="en-US" sz="2000" b="1" dirty="0"/>
              <a:t>Human Error:</a:t>
            </a:r>
            <a:r>
              <a:rPr lang="en-US" sz="2000" dirty="0"/>
              <a:t> Mistakes in manual marking and data entry for results.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1A25F-E2DD-F847-0025-7707DC8C0B42}"/>
              </a:ext>
            </a:extLst>
          </p:cNvPr>
          <p:cNvSpPr txBox="1"/>
          <p:nvPr/>
        </p:nvSpPr>
        <p:spPr>
          <a:xfrm>
            <a:off x="550416" y="3756305"/>
            <a:ext cx="8460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784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23963">
        <p15:prstTrans prst="peelOff"/>
      </p:transition>
    </mc:Choice>
    <mc:Fallback>
      <p:transition spd="slow" advTm="23963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2482932-B83B-0B54-085E-3B3A5932A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92151D37-B8E0-B876-4547-F029923D01C9}"/>
              </a:ext>
            </a:extLst>
          </p:cNvPr>
          <p:cNvGrpSpPr/>
          <p:nvPr/>
        </p:nvGrpSpPr>
        <p:grpSpPr>
          <a:xfrm>
            <a:off x="160420" y="1448425"/>
            <a:ext cx="4344403" cy="430887"/>
            <a:chOff x="4181256" y="3149037"/>
            <a:chExt cx="4344403" cy="430887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E4A7183F-E94F-E8D9-1986-4F12BDD3A925}"/>
                </a:ext>
              </a:extLst>
            </p:cNvPr>
            <p:cNvSpPr/>
            <p:nvPr/>
          </p:nvSpPr>
          <p:spPr>
            <a:xfrm>
              <a:off x="4328626" y="3149037"/>
              <a:ext cx="419703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Objective of the Project</a:t>
              </a:r>
              <a:endParaRPr sz="2800"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3FEF93F0-2720-ABD7-1BAC-A0BA38B5DF6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A2654EC-F1AA-C848-62AF-AC30D1A1A5AE}"/>
              </a:ext>
            </a:extLst>
          </p:cNvPr>
          <p:cNvSpPr/>
          <p:nvPr/>
        </p:nvSpPr>
        <p:spPr>
          <a:xfrm>
            <a:off x="710836" y="357668"/>
            <a:ext cx="85083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32631-E594-BFC9-A227-184B34D83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60205"/>
            <a:ext cx="9819583" cy="4847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1" dirty="0"/>
              <a:t>Main Goals:</a:t>
            </a:r>
            <a:r>
              <a:rPr lang="en-US" sz="1600" dirty="0"/>
              <a:t> To provide a scalable, tamper-proof platform that automates assessment while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ensuring high security and integrity through user authentication.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1" dirty="0"/>
              <a:t>Expected Outcomes:</a:t>
            </a:r>
            <a:r>
              <a:rPr lang="en-US" sz="1600" dirty="0"/>
              <a:t>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dirty="0"/>
              <a:t> </a:t>
            </a:r>
            <a:r>
              <a:rPr lang="en-US" sz="1600" b="1" dirty="0"/>
              <a:t>Automated Evaluation:</a:t>
            </a:r>
            <a:r>
              <a:rPr lang="en-US" sz="1600" dirty="0"/>
              <a:t> The system will instantly grade objective tests, eliminating human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  error and manual labor.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b="1" dirty="0"/>
              <a:t> Enhanced Security:</a:t>
            </a:r>
            <a:r>
              <a:rPr lang="en-US" sz="1600" dirty="0"/>
              <a:t> Features like randomized question sets and timed sessions will prevent cheating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 and unauthorized access.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b="1" dirty="0"/>
              <a:t> Data Analytics:</a:t>
            </a:r>
            <a:r>
              <a:rPr lang="en-US" sz="1600" dirty="0"/>
              <a:t> Admins will receive comprehensive performance reports and statistical insights into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 student progress.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b="1" dirty="0"/>
              <a:t>Accessibility:</a:t>
            </a:r>
            <a:r>
              <a:rPr lang="en-US" sz="1600" dirty="0"/>
              <a:t> Students can securely take examinations from any location, reducing the need for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physical infrastructure.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737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2558">
        <p15:prstTrans prst="peelOff"/>
      </p:transition>
    </mc:Choice>
    <mc:Fallback>
      <p:transition spd="slow" advTm="2558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0E1FBCD-19A6-ABFC-D4AB-0BDB53A7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8055310A-EB77-F2B7-6EA4-032AA3C14356}"/>
              </a:ext>
            </a:extLst>
          </p:cNvPr>
          <p:cNvGrpSpPr/>
          <p:nvPr/>
        </p:nvGrpSpPr>
        <p:grpSpPr>
          <a:xfrm>
            <a:off x="710835" y="1508156"/>
            <a:ext cx="4379914" cy="430887"/>
            <a:chOff x="4181255" y="3149038"/>
            <a:chExt cx="4379914" cy="430887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AA9AF2F5-8190-D87E-D70D-DAEF786C0BC7}"/>
                </a:ext>
              </a:extLst>
            </p:cNvPr>
            <p:cNvSpPr/>
            <p:nvPr/>
          </p:nvSpPr>
          <p:spPr>
            <a:xfrm>
              <a:off x="4364136" y="3149038"/>
              <a:ext cx="419703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Proposed Solution</a:t>
              </a:r>
              <a:endParaRPr sz="2800"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CE9CC80D-D795-CAD9-EC05-452BE27A7048}"/>
                </a:ext>
              </a:extLst>
            </p:cNvPr>
            <p:cNvSpPr/>
            <p:nvPr/>
          </p:nvSpPr>
          <p:spPr>
            <a:xfrm>
              <a:off x="4181255" y="3224809"/>
              <a:ext cx="45719" cy="355116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B35FBEF-9E92-07A1-B120-5ACAC3720BA1}"/>
              </a:ext>
            </a:extLst>
          </p:cNvPr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47457F-6E66-65D6-13F6-D9683E4D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257" y="2327097"/>
            <a:ext cx="8065028" cy="1985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The proposed solution is to develop a </a:t>
            </a:r>
            <a:r>
              <a:rPr lang="en-US" sz="1600" b="1" dirty="0"/>
              <a:t>web-based Online Examination System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that automates the entire examination process, making it more efficient, secure,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and user-friendly. The system will reduce manual work and provide a reliable platform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for conducting exams online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6815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917">
        <p15:prstTrans prst="peelOff"/>
      </p:transition>
    </mc:Choice>
    <mc:Fallback>
      <p:transition spd="slow" advTm="1917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5601139-3BAC-9292-3ED3-B5308469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8B5401BF-EF24-0258-1591-82129E83F4A3}"/>
              </a:ext>
            </a:extLst>
          </p:cNvPr>
          <p:cNvGrpSpPr/>
          <p:nvPr/>
        </p:nvGrpSpPr>
        <p:grpSpPr>
          <a:xfrm>
            <a:off x="710836" y="1354742"/>
            <a:ext cx="4263038" cy="276999"/>
            <a:chOff x="4181256" y="3199810"/>
            <a:chExt cx="4263038" cy="276999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801C461D-A0DA-A104-FC90-9E9BCFD25988}"/>
                </a:ext>
              </a:extLst>
            </p:cNvPr>
            <p:cNvSpPr/>
            <p:nvPr/>
          </p:nvSpPr>
          <p:spPr>
            <a:xfrm>
              <a:off x="4247261" y="3199810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System Architecture / Flow Diagram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64BCC672-C645-4CF7-9CD0-F3A5EFE214C3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D31A5E2-6EB4-C015-39A4-90D07ACDA488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B44ECA2-F685-2995-5C82-0ABC06974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635" y="2210049"/>
            <a:ext cx="820128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1" dirty="0"/>
              <a:t>        Our project follows a Three-Tier Architecture based on Django’s MVT pattern</a:t>
            </a:r>
            <a:r>
              <a:rPr lang="en-US" sz="16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    </a:t>
            </a:r>
            <a:r>
              <a:rPr lang="en-IN" sz="1600" u="sng" dirty="0"/>
              <a:t>Presentation Layer (Frontend):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       </a:t>
            </a:r>
            <a:r>
              <a:rPr lang="en-IN" sz="1600" b="1" dirty="0"/>
              <a:t>Users:    </a:t>
            </a:r>
            <a:r>
              <a:rPr lang="en-IN" sz="1600" b="1" dirty="0" err="1"/>
              <a:t>i</a:t>
            </a:r>
            <a:r>
              <a:rPr lang="en-IN" sz="1600" b="1" dirty="0"/>
              <a:t>. </a:t>
            </a:r>
            <a:r>
              <a:rPr lang="en-IN" sz="1600" dirty="0"/>
              <a:t>Student    </a:t>
            </a:r>
            <a:r>
              <a:rPr lang="en-IN" sz="1600" b="1" dirty="0"/>
              <a:t>ii. </a:t>
            </a:r>
            <a:r>
              <a:rPr lang="en-IN" sz="1600" dirty="0"/>
              <a:t>Teacher     </a:t>
            </a:r>
            <a:r>
              <a:rPr lang="en-IN" sz="1600" b="1" dirty="0"/>
              <a:t>iii</a:t>
            </a:r>
            <a:r>
              <a:rPr lang="en-IN" sz="1600" dirty="0"/>
              <a:t>. Admin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       </a:t>
            </a:r>
            <a:r>
              <a:rPr lang="en-IN" sz="1600" b="1" dirty="0"/>
              <a:t>Technologies Used:  </a:t>
            </a:r>
            <a:r>
              <a:rPr lang="en-IN" sz="1600" b="1" dirty="0" err="1"/>
              <a:t>i</a:t>
            </a:r>
            <a:r>
              <a:rPr lang="en-IN" sz="1600" b="1" dirty="0"/>
              <a:t>. </a:t>
            </a:r>
            <a:r>
              <a:rPr lang="en-IN" sz="1600" dirty="0"/>
              <a:t>HTML   </a:t>
            </a:r>
            <a:r>
              <a:rPr lang="en-IN" sz="1600" b="1" dirty="0"/>
              <a:t>ii</a:t>
            </a:r>
            <a:r>
              <a:rPr lang="en-IN" sz="1600" dirty="0"/>
              <a:t>.CSS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       Functions:  </a:t>
            </a:r>
            <a:r>
              <a:rPr lang="en-US" sz="1600" b="1" dirty="0" err="1"/>
              <a:t>i</a:t>
            </a:r>
            <a:r>
              <a:rPr lang="en-US" sz="1600" b="1" dirty="0"/>
              <a:t>. </a:t>
            </a:r>
            <a:r>
              <a:rPr lang="en-US" sz="1600" dirty="0"/>
              <a:t>Login / Registration   </a:t>
            </a:r>
            <a:r>
              <a:rPr lang="en-US" sz="1600" b="1" dirty="0"/>
              <a:t>ii</a:t>
            </a:r>
            <a:r>
              <a:rPr lang="en-US" sz="1600" dirty="0"/>
              <a:t>. View dashboard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                              </a:t>
            </a:r>
            <a:r>
              <a:rPr lang="en-US" sz="1600" b="1" dirty="0"/>
              <a:t> iii</a:t>
            </a:r>
            <a:r>
              <a:rPr lang="en-US" sz="1600" dirty="0"/>
              <a:t>. Attempt exams    </a:t>
            </a:r>
            <a:r>
              <a:rPr lang="en-US" sz="1600" b="1" dirty="0"/>
              <a:t>iv</a:t>
            </a:r>
            <a:r>
              <a:rPr lang="en-US" sz="1600" dirty="0"/>
              <a:t>. Create quizzes     </a:t>
            </a:r>
            <a:r>
              <a:rPr lang="en-US" sz="1600" b="1" dirty="0"/>
              <a:t>v. </a:t>
            </a:r>
            <a:r>
              <a:rPr lang="en-US" sz="1600" dirty="0"/>
              <a:t>View results</a:t>
            </a:r>
          </a:p>
          <a:p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247027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834">
        <p15:prstTrans prst="peelOff"/>
      </p:transition>
    </mc:Choice>
    <mc:Fallback>
      <p:transition spd="slow" advTm="834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80916A-19BC-00C7-862B-F957F605E82B}"/>
              </a:ext>
            </a:extLst>
          </p:cNvPr>
          <p:cNvSpPr txBox="1"/>
          <p:nvPr/>
        </p:nvSpPr>
        <p:spPr>
          <a:xfrm>
            <a:off x="2474651" y="3277331"/>
            <a:ext cx="4949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lt1"/>
                </a:solidFill>
              </a:rPr>
              <a:t>Examination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 System</a:t>
            </a:r>
            <a:endParaRPr lang="en-US" sz="1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32C59-AB00-9D36-32D8-2A1BABD1C866}"/>
              </a:ext>
            </a:extLst>
          </p:cNvPr>
          <p:cNvSpPr txBox="1"/>
          <p:nvPr/>
        </p:nvSpPr>
        <p:spPr>
          <a:xfrm>
            <a:off x="625875" y="310718"/>
            <a:ext cx="4323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Online Examination System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AFFB5-1174-5BB7-7C32-8487D88DC6BB}"/>
              </a:ext>
            </a:extLst>
          </p:cNvPr>
          <p:cNvSpPr txBox="1"/>
          <p:nvPr/>
        </p:nvSpPr>
        <p:spPr>
          <a:xfrm>
            <a:off x="625875" y="1931323"/>
            <a:ext cx="65961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u="sng" dirty="0"/>
              <a:t>Application Layer (Backend – Django Server</a:t>
            </a:r>
            <a:r>
              <a:rPr lang="en-US" sz="1800" dirty="0"/>
              <a:t>)</a:t>
            </a:r>
          </a:p>
          <a:p>
            <a:r>
              <a:rPr lang="en-US" sz="1600" b="1" dirty="0"/>
              <a:t>      Technology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dirty="0"/>
              <a:t>Python with Django Framework</a:t>
            </a:r>
          </a:p>
          <a:p>
            <a:r>
              <a:rPr lang="en-US" sz="1800" dirty="0"/>
              <a:t>      </a:t>
            </a:r>
            <a:r>
              <a:rPr lang="en-US" sz="1600" b="1" dirty="0"/>
              <a:t>Components: </a:t>
            </a:r>
            <a:r>
              <a:rPr lang="en-US" dirty="0"/>
              <a:t>Views – Handle user requests</a:t>
            </a:r>
          </a:p>
          <a:p>
            <a:r>
              <a:rPr lang="en-US" dirty="0"/>
              <a:t>                              Models – Define database structure</a:t>
            </a:r>
          </a:p>
          <a:p>
            <a:r>
              <a:rPr lang="en-US" dirty="0"/>
              <a:t>                              Templates – Display output</a:t>
            </a:r>
          </a:p>
          <a:p>
            <a:r>
              <a:rPr lang="en-US" dirty="0"/>
              <a:t>                              URLs – Route requests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u="sng" dirty="0"/>
              <a:t>Data Layer (Database)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   </a:t>
            </a:r>
            <a:r>
              <a:rPr lang="en-US" dirty="0"/>
              <a:t>This layer stores all system data securely</a:t>
            </a:r>
            <a:r>
              <a:rPr lang="en-US" sz="1800" dirty="0"/>
              <a:t>.</a:t>
            </a:r>
          </a:p>
          <a:p>
            <a:r>
              <a:rPr lang="en-US" b="1" dirty="0"/>
              <a:t>    Database: </a:t>
            </a:r>
            <a:r>
              <a:rPr lang="en-US" dirty="0"/>
              <a:t>SQLite </a:t>
            </a:r>
          </a:p>
          <a:p>
            <a:r>
              <a:rPr lang="en-US" b="1" dirty="0"/>
              <a:t>    Stores: </a:t>
            </a:r>
            <a:r>
              <a:rPr lang="en-US" dirty="0"/>
              <a:t>User details</a:t>
            </a:r>
          </a:p>
          <a:p>
            <a:r>
              <a:rPr lang="en-US" dirty="0"/>
              <a:t>                Questions &amp; answers</a:t>
            </a:r>
          </a:p>
          <a:p>
            <a:r>
              <a:rPr lang="en-US" dirty="0"/>
              <a:t>                Exam records</a:t>
            </a:r>
          </a:p>
          <a:p>
            <a:r>
              <a:rPr lang="en-US" dirty="0"/>
              <a:t>                Results</a:t>
            </a:r>
          </a:p>
          <a:p>
            <a:r>
              <a:rPr lang="en-US" dirty="0"/>
              <a:t>                Login history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u="sng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Google Shape;89;p2">
            <a:extLst>
              <a:ext uri="{FF2B5EF4-FFF2-40B4-BE49-F238E27FC236}">
                <a16:creationId xmlns:a16="http://schemas.microsoft.com/office/drawing/2014/main" id="{F2C87D5F-1E4E-2544-9B4A-390EE9BF1B6D}"/>
              </a:ext>
            </a:extLst>
          </p:cNvPr>
          <p:cNvSpPr/>
          <p:nvPr/>
        </p:nvSpPr>
        <p:spPr>
          <a:xfrm>
            <a:off x="847862" y="1379741"/>
            <a:ext cx="41970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System Architecture / Flow Diagram</a:t>
            </a:r>
            <a:endParaRPr dirty="0"/>
          </a:p>
        </p:txBody>
      </p:sp>
      <p:sp>
        <p:nvSpPr>
          <p:cNvPr id="8" name="Google Shape;90;p2">
            <a:extLst>
              <a:ext uri="{FF2B5EF4-FFF2-40B4-BE49-F238E27FC236}">
                <a16:creationId xmlns:a16="http://schemas.microsoft.com/office/drawing/2014/main" id="{7DABABC8-0FBC-4178-B45D-5CC634FB545E}"/>
              </a:ext>
            </a:extLst>
          </p:cNvPr>
          <p:cNvSpPr/>
          <p:nvPr/>
        </p:nvSpPr>
        <p:spPr>
          <a:xfrm>
            <a:off x="710836" y="1379741"/>
            <a:ext cx="36000" cy="252000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5ADDA1-CCE6-2B5D-3505-ADAA4B81B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872" y="3129379"/>
            <a:ext cx="5126855" cy="34179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76967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415">
        <p15:prstTrans prst="peelOff"/>
      </p:transition>
    </mc:Choice>
    <mc:Fallback>
      <p:transition spd="slow" advTm="415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830621B-B893-831E-FF1F-1B49F3CE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3765C36A-27A3-80B8-5DAD-3BE08E0A3CC2}"/>
              </a:ext>
            </a:extLst>
          </p:cNvPr>
          <p:cNvGrpSpPr/>
          <p:nvPr/>
        </p:nvGrpSpPr>
        <p:grpSpPr>
          <a:xfrm>
            <a:off x="808490" y="1236580"/>
            <a:ext cx="4286803" cy="307777"/>
            <a:chOff x="4181256" y="3189814"/>
            <a:chExt cx="4286803" cy="307777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EE6A1548-9AEF-D849-DF96-93703211C502}"/>
                </a:ext>
              </a:extLst>
            </p:cNvPr>
            <p:cNvSpPr/>
            <p:nvPr/>
          </p:nvSpPr>
          <p:spPr>
            <a:xfrm>
              <a:off x="4364136" y="3189814"/>
              <a:ext cx="410392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Tools, Technologies &amp; Libraries</a:t>
              </a:r>
              <a:endParaRPr sz="2000"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6B5C259F-53DB-E23B-F121-A773C42585E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224B7AB-0AB2-DA02-A151-2896E7A85FF3}"/>
              </a:ext>
            </a:extLst>
          </p:cNvPr>
          <p:cNvSpPr/>
          <p:nvPr/>
        </p:nvSpPr>
        <p:spPr>
          <a:xfrm>
            <a:off x="719714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D2CA4-118E-7A8F-7DC8-5B10B4F5D622}"/>
              </a:ext>
            </a:extLst>
          </p:cNvPr>
          <p:cNvSpPr txBox="1"/>
          <p:nvPr/>
        </p:nvSpPr>
        <p:spPr>
          <a:xfrm>
            <a:off x="710836" y="1612410"/>
            <a:ext cx="6142382" cy="3199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1800" b="1" dirty="0"/>
              <a:t>Programming Language –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We have used </a:t>
            </a:r>
            <a:r>
              <a:rPr lang="en-US" sz="1600" b="1" dirty="0"/>
              <a:t>Python</a:t>
            </a:r>
            <a:r>
              <a:rPr lang="en-US" sz="1600" dirty="0"/>
              <a:t> as the main programming language.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It is easy to understand, powerful, and widely used for web      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Python helps in writing clean and efficient backend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1542E8-5803-7346-7BA0-F7B82CDB920A}"/>
              </a:ext>
            </a:extLst>
          </p:cNvPr>
          <p:cNvSpPr txBox="1"/>
          <p:nvPr/>
        </p:nvSpPr>
        <p:spPr>
          <a:xfrm>
            <a:off x="710836" y="3638010"/>
            <a:ext cx="66660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dirty="0"/>
              <a:t>Web Framework – Django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Django</a:t>
            </a:r>
            <a:r>
              <a:rPr lang="en-US" sz="1600" dirty="0"/>
              <a:t> is used to develop the web application.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helps in faster development and provides built-in security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Django manages</a:t>
            </a:r>
            <a:r>
              <a:rPr lang="en-U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buFont typeface="+mj-lt"/>
              <a:buAutoNum type="alphaLcPeriod"/>
            </a:pPr>
            <a:r>
              <a:rPr lang="en-US" sz="1600" dirty="0"/>
              <a:t>     User authentication (Student, Teacher, Admin)</a:t>
            </a:r>
          </a:p>
          <a:p>
            <a:pPr marL="342900" lvl="1" indent="-342900">
              <a:buFont typeface="+mj-lt"/>
              <a:buAutoNum type="alphaLcPeriod"/>
            </a:pPr>
            <a:r>
              <a:rPr lang="en-US" sz="1600" dirty="0"/>
              <a:t>     Database handling</a:t>
            </a:r>
          </a:p>
          <a:p>
            <a:pPr marL="342900" lvl="1" indent="-342900">
              <a:buFont typeface="+mj-lt"/>
              <a:buAutoNum type="alphaLcPeriod"/>
            </a:pPr>
            <a:r>
              <a:rPr lang="en-US" sz="1600" dirty="0"/>
              <a:t>     Form processing</a:t>
            </a:r>
          </a:p>
          <a:p>
            <a:pPr marL="342900" lvl="1" indent="-342900">
              <a:buFont typeface="+mj-lt"/>
              <a:buAutoNum type="alphaLcPeriod"/>
            </a:pPr>
            <a:r>
              <a:rPr lang="en-US" sz="1600" dirty="0"/>
              <a:t>     URL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7950782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709">
        <p15:prstTrans prst="peelOff"/>
      </p:transition>
    </mc:Choice>
    <mc:Fallback>
      <p:transition spd="slow" advTm="709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25441B-DB2E-DD7C-C99D-2BF2610C50CB}"/>
              </a:ext>
            </a:extLst>
          </p:cNvPr>
          <p:cNvSpPr txBox="1"/>
          <p:nvPr/>
        </p:nvSpPr>
        <p:spPr>
          <a:xfrm>
            <a:off x="621436" y="328475"/>
            <a:ext cx="5592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Online Examination System</a:t>
            </a:r>
          </a:p>
          <a:p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391DE-33AB-509A-D406-D889A9131EEB}"/>
              </a:ext>
            </a:extLst>
          </p:cNvPr>
          <p:cNvSpPr txBox="1"/>
          <p:nvPr/>
        </p:nvSpPr>
        <p:spPr>
          <a:xfrm>
            <a:off x="328472" y="1580224"/>
            <a:ext cx="858470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 </a:t>
            </a:r>
            <a:r>
              <a:rPr lang="fr-FR" sz="1800" b="1" dirty="0"/>
              <a:t>Frontend Technologies – HTML, CSS, JavaScript\</a:t>
            </a:r>
          </a:p>
          <a:p>
            <a:endParaRPr lang="fr-FR" sz="1800" b="1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     HTML</a:t>
            </a:r>
            <a:r>
              <a:rPr lang="en-US" sz="1600" dirty="0"/>
              <a:t> is used to create the structure of web pages.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    CSS</a:t>
            </a:r>
            <a:r>
              <a:rPr lang="en-US" sz="1600" dirty="0"/>
              <a:t> is used for designing and layout.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    JavaScript</a:t>
            </a:r>
            <a:r>
              <a:rPr lang="en-US" sz="1600" dirty="0"/>
              <a:t> is used for validation and dynamic behavior (like timers, alerts, etc.).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dirty="0"/>
              <a:t>Database – 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We used </a:t>
            </a:r>
            <a:r>
              <a:rPr lang="en-IN" sz="1600" b="1" dirty="0"/>
              <a:t>SQLite</a:t>
            </a:r>
            <a:r>
              <a:rPr lang="en-IN" sz="1600" dirty="0"/>
              <a:t> (default Django database) for storing data. </a:t>
            </a:r>
          </a:p>
          <a:p>
            <a:r>
              <a:rPr lang="en-IN" sz="1600" dirty="0"/>
              <a:t>      </a:t>
            </a:r>
            <a:r>
              <a:rPr lang="en-US" sz="1600" dirty="0"/>
              <a:t>It stores:</a:t>
            </a:r>
          </a:p>
          <a:p>
            <a:r>
              <a:rPr lang="en-US" sz="1600" dirty="0"/>
              <a:t>        </a:t>
            </a:r>
            <a:r>
              <a:rPr lang="en-US" sz="1600" b="1" dirty="0" err="1"/>
              <a:t>i</a:t>
            </a:r>
            <a:r>
              <a:rPr lang="en-US" sz="1600" b="1" dirty="0"/>
              <a:t>. </a:t>
            </a:r>
            <a:r>
              <a:rPr lang="en-US" sz="1600" dirty="0"/>
              <a:t>User details  </a:t>
            </a:r>
          </a:p>
          <a:p>
            <a:r>
              <a:rPr lang="en-US" sz="1600" dirty="0"/>
              <a:t>       </a:t>
            </a:r>
            <a:r>
              <a:rPr lang="en-US" sz="1600" b="1" dirty="0"/>
              <a:t>ii</a:t>
            </a:r>
            <a:r>
              <a:rPr lang="en-US" sz="1600" dirty="0"/>
              <a:t>. Questions  </a:t>
            </a:r>
          </a:p>
          <a:p>
            <a:r>
              <a:rPr lang="en-US" sz="1600" b="1" dirty="0"/>
              <a:t>       iii. </a:t>
            </a:r>
            <a:r>
              <a:rPr lang="en-US" sz="1600" dirty="0"/>
              <a:t>Answers   </a:t>
            </a:r>
          </a:p>
          <a:p>
            <a:r>
              <a:rPr lang="en-US" sz="1600" b="1" dirty="0"/>
              <a:t>       iv. </a:t>
            </a:r>
            <a:r>
              <a:rPr lang="en-US" sz="1600" dirty="0"/>
              <a:t>Results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Development Tools</a:t>
            </a:r>
          </a:p>
          <a:p>
            <a:pPr marL="342900" indent="-342900">
              <a:buFont typeface="+mj-lt"/>
              <a:buAutoNum type="alphaLcPeriod"/>
            </a:pPr>
            <a:r>
              <a:rPr lang="en-US" b="1" dirty="0"/>
              <a:t>            </a:t>
            </a:r>
            <a:r>
              <a:rPr lang="en-US" sz="1600" dirty="0"/>
              <a:t>VS Code– For coding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600" dirty="0"/>
              <a:t>            Git – For version control 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600" dirty="0"/>
              <a:t>            Browser – For testing (Chrome/Edge)</a:t>
            </a:r>
          </a:p>
          <a:p>
            <a:pPr marL="342900" indent="-342900">
              <a:buFont typeface="+mj-lt"/>
              <a:buAutoNum type="alphaLcPeriod"/>
            </a:pPr>
            <a:endParaRPr lang="en-US" sz="1600" dirty="0"/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2E05D-E028-FCDC-E979-A132FA2E0FEF}"/>
              </a:ext>
            </a:extLst>
          </p:cNvPr>
          <p:cNvSpPr txBox="1"/>
          <p:nvPr/>
        </p:nvSpPr>
        <p:spPr>
          <a:xfrm>
            <a:off x="808489" y="1268067"/>
            <a:ext cx="3798313" cy="40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solidFill>
                  <a:srgbClr val="3F3F3F"/>
                </a:solidFill>
              </a:rPr>
              <a:t>Tools, Technologies &amp; Libraries</a:t>
            </a:r>
            <a:endParaRPr lang="en-US" sz="2000" dirty="0"/>
          </a:p>
        </p:txBody>
      </p:sp>
      <p:sp>
        <p:nvSpPr>
          <p:cNvPr id="6" name="Google Shape;90;p2">
            <a:extLst>
              <a:ext uri="{FF2B5EF4-FFF2-40B4-BE49-F238E27FC236}">
                <a16:creationId xmlns:a16="http://schemas.microsoft.com/office/drawing/2014/main" id="{37E10A0C-DBE5-8F86-92DF-DB49381BA7A0}"/>
              </a:ext>
            </a:extLst>
          </p:cNvPr>
          <p:cNvSpPr/>
          <p:nvPr/>
        </p:nvSpPr>
        <p:spPr>
          <a:xfrm flipH="1">
            <a:off x="798590" y="1313796"/>
            <a:ext cx="45719" cy="26642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8198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34">
        <p15:prstTrans prst="peelOff"/>
      </p:transition>
    </mc:Choice>
    <mc:Fallback>
      <p:transition spd="slow" advTm="3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26E1E93-96BE-1014-B497-B952EBDC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EB8524AA-65E8-A24B-74F2-63CA6CB68109}"/>
              </a:ext>
            </a:extLst>
          </p:cNvPr>
          <p:cNvGrpSpPr/>
          <p:nvPr/>
        </p:nvGrpSpPr>
        <p:grpSpPr>
          <a:xfrm>
            <a:off x="710836" y="1276988"/>
            <a:ext cx="4371035" cy="276999"/>
            <a:chOff x="4181256" y="3199810"/>
            <a:chExt cx="4371035" cy="276999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35D8B2AE-3426-BAF2-0880-A153EC654F17}"/>
                </a:ext>
              </a:extLst>
            </p:cNvPr>
            <p:cNvSpPr/>
            <p:nvPr/>
          </p:nvSpPr>
          <p:spPr>
            <a:xfrm>
              <a:off x="4355258" y="3199810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Dataset Description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899AEA62-EFA6-7E29-9E1F-33A91C84218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A06E43C-EFBB-AE1C-2884-5EB0D13BF41B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1A0151-FB0C-7BB9-6439-87CD3D0A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56" y="1569375"/>
            <a:ext cx="6873163" cy="5980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dirty="0"/>
              <a:t>The dataset used in our project is stored in a relational database (SQLite/MySQL) and is managed using Django ORM. It contains structured data related to users, exams, questions, and results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sz="1600" b="1" dirty="0"/>
              <a:t> </a:t>
            </a:r>
            <a:r>
              <a:rPr lang="en-IN" sz="1600" b="1" u="sng" dirty="0"/>
              <a:t>User Dataset</a:t>
            </a:r>
            <a:r>
              <a:rPr lang="en-IN" sz="1600" b="1" dirty="0"/>
              <a:t>:</a:t>
            </a:r>
            <a:r>
              <a:rPr lang="en-US" sz="1600" dirty="0"/>
              <a:t>This table stores information about all system users.</a:t>
            </a:r>
          </a:p>
          <a:p>
            <a:r>
              <a:rPr lang="en-US" sz="1600" b="1" dirty="0"/>
              <a:t>       Attributes: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Password (Encrypted)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Role (Student / Teacher / Admin)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Registration Dat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sz="1600" b="1" dirty="0"/>
              <a:t>  </a:t>
            </a:r>
            <a:r>
              <a:rPr lang="en-IN" sz="1600" b="1" u="sng" dirty="0"/>
              <a:t>Student Dataset:</a:t>
            </a:r>
          </a:p>
          <a:p>
            <a:r>
              <a:rPr lang="en-US" sz="1600" b="1" dirty="0"/>
              <a:t>       Attributes : </a:t>
            </a:r>
            <a:r>
              <a:rPr lang="en-US" sz="1600" dirty="0"/>
              <a:t>Stores academic and exam-related data of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Student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 ID (Foreign Key)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Course /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Attempt Status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9646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76">
        <p15:prstTrans prst="peelOff"/>
      </p:transition>
    </mc:Choice>
    <mc:Fallback>
      <p:transition spd="slow" advTm="176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23D2F-597F-0651-BC46-55985BC67475}"/>
              </a:ext>
            </a:extLst>
          </p:cNvPr>
          <p:cNvSpPr txBox="1"/>
          <p:nvPr/>
        </p:nvSpPr>
        <p:spPr>
          <a:xfrm>
            <a:off x="408368" y="319598"/>
            <a:ext cx="5734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Online Examination System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1F4B00-7188-7072-2CCC-45F0CE73C789}"/>
              </a:ext>
            </a:extLst>
          </p:cNvPr>
          <p:cNvSpPr txBox="1"/>
          <p:nvPr/>
        </p:nvSpPr>
        <p:spPr>
          <a:xfrm>
            <a:off x="746836" y="1243321"/>
            <a:ext cx="483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800" dirty="0">
                <a:solidFill>
                  <a:srgbClr val="3F3F3F"/>
                </a:solidFill>
              </a:rPr>
              <a:t>Dataset Description</a:t>
            </a:r>
            <a:endParaRPr lang="en-US" sz="1800" dirty="0"/>
          </a:p>
        </p:txBody>
      </p:sp>
      <p:sp>
        <p:nvSpPr>
          <p:cNvPr id="4" name="Google Shape;90;p2">
            <a:extLst>
              <a:ext uri="{FF2B5EF4-FFF2-40B4-BE49-F238E27FC236}">
                <a16:creationId xmlns:a16="http://schemas.microsoft.com/office/drawing/2014/main" id="{BBA31507-E747-96D8-4721-45843DF295B0}"/>
              </a:ext>
            </a:extLst>
          </p:cNvPr>
          <p:cNvSpPr/>
          <p:nvPr/>
        </p:nvSpPr>
        <p:spPr>
          <a:xfrm>
            <a:off x="710836" y="1301987"/>
            <a:ext cx="36000" cy="252000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421D5-7A16-54AE-37B2-F8A4BF63E292}"/>
              </a:ext>
            </a:extLst>
          </p:cNvPr>
          <p:cNvSpPr txBox="1"/>
          <p:nvPr/>
        </p:nvSpPr>
        <p:spPr>
          <a:xfrm>
            <a:off x="570282" y="2059619"/>
            <a:ext cx="876226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u="sng" dirty="0"/>
              <a:t>Teacher Dataset:</a:t>
            </a:r>
          </a:p>
          <a:p>
            <a:r>
              <a:rPr lang="en-US" sz="1800" b="1" dirty="0"/>
              <a:t>Attributes: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Teacher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Subject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Department</a:t>
            </a:r>
          </a:p>
          <a:p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u="sng" dirty="0"/>
              <a:t>Exam Dataset:</a:t>
            </a:r>
          </a:p>
          <a:p>
            <a:r>
              <a:rPr lang="en-US" sz="1800" b="1" dirty="0"/>
              <a:t>Attributes: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Exam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Subject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Total 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Created By (Teacher 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A8A06-FB83-13D9-C26E-91774DA6CA87}"/>
              </a:ext>
            </a:extLst>
          </p:cNvPr>
          <p:cNvSpPr txBox="1"/>
          <p:nvPr/>
        </p:nvSpPr>
        <p:spPr>
          <a:xfrm>
            <a:off x="4412202" y="2769833"/>
            <a:ext cx="51756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u="sng" dirty="0"/>
              <a:t>Question Dataset</a:t>
            </a:r>
          </a:p>
          <a:p>
            <a:r>
              <a:rPr lang="en-US" sz="1800" b="1" dirty="0"/>
              <a:t>Attributes: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Question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Option A, B, C, 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Correct Answer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Marks</a:t>
            </a:r>
          </a:p>
        </p:txBody>
      </p:sp>
    </p:spTree>
    <p:extLst>
      <p:ext uri="{BB962C8B-B14F-4D97-AF65-F5344CB8AC3E}">
        <p14:creationId xmlns:p14="http://schemas.microsoft.com/office/powerpoint/2010/main" val="8415150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355">
        <p15:prstTrans prst="peelOff"/>
      </p:transition>
    </mc:Choice>
    <mc:Fallback>
      <p:transition spd="slow" advTm="355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7B308FF-814A-D289-9712-1F135517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5F3AD51A-CFAA-1F26-F161-083875E52E0C}"/>
              </a:ext>
            </a:extLst>
          </p:cNvPr>
          <p:cNvGrpSpPr/>
          <p:nvPr/>
        </p:nvGrpSpPr>
        <p:grpSpPr>
          <a:xfrm>
            <a:off x="293585" y="1486272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DD15EF8D-9EA7-264A-2B45-B5267B60EB9C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Methodology / Implementation Steps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4BD15D64-4EDF-81F2-630F-6728A8C9C96F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CD51A9C-B4FA-0069-9BDF-C6CB1005BB8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2E9EF-54E7-A8DF-E645-3A8D210D4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98" y="1889965"/>
            <a:ext cx="5381677" cy="4230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b="1" dirty="0"/>
              <a:t>1. Coding Logic</a:t>
            </a:r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Users log in based on role (Admin/Teacher/Student).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Teacher creates exams and adds questions.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Student attempts exam within given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System saves answers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Answers are evaluated and result is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2.  Algorithm Used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Authentication Algorithm (for login)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Random Shuffle Algorithm (for questions)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Timer Algorithm (for exam 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Evaluation Algorithm (for scoring)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Role-Based Access Control (for security)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47675" algn="l"/>
              </a:tabLst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F6C32-425D-D6BA-1256-20CF5FFC5363}"/>
              </a:ext>
            </a:extLst>
          </p:cNvPr>
          <p:cNvSpPr txBox="1"/>
          <p:nvPr/>
        </p:nvSpPr>
        <p:spPr>
          <a:xfrm>
            <a:off x="5435565" y="2180878"/>
            <a:ext cx="324922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3</a:t>
            </a:r>
            <a:r>
              <a:rPr lang="en-IN" sz="1600" b="1" dirty="0"/>
              <a:t>. Flow of Code Modules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 Module: Login/registration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Exam Module: Create and manage exams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Question Module: Store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Submission Module: Save student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Evaluation Module: Check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Result Module: Display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D8BDB-5EA8-8C0A-DF18-E428817A0F7A}"/>
              </a:ext>
            </a:extLst>
          </p:cNvPr>
          <p:cNvSpPr txBox="1"/>
          <p:nvPr/>
        </p:nvSpPr>
        <p:spPr>
          <a:xfrm>
            <a:off x="169298" y="5849980"/>
            <a:ext cx="9667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User Module → Exam Module → Question Module → Submission Module → Evaluation Module → Result Module</a:t>
            </a: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309279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996">
        <p15:prstTrans prst="peelOff"/>
      </p:transition>
    </mc:Choice>
    <mc:Fallback>
      <p:transition spd="slow" advTm="996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7BEB051-8142-E367-3920-D6E37DF7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41718C6F-B8DE-CA8A-240E-68218888EE1A}"/>
              </a:ext>
            </a:extLst>
          </p:cNvPr>
          <p:cNvGrpSpPr/>
          <p:nvPr/>
        </p:nvGrpSpPr>
        <p:grpSpPr>
          <a:xfrm>
            <a:off x="710836" y="1326578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5EE604B8-B3E1-8475-4C2B-66D77123761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Results &amp; Performance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49983E4E-AEDD-2034-DC42-A184C1C02D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E6A5745-51F5-A468-15F6-90E7A5604CDA}"/>
              </a:ext>
            </a:extLst>
          </p:cNvPr>
          <p:cNvSpPr/>
          <p:nvPr/>
        </p:nvSpPr>
        <p:spPr>
          <a:xfrm>
            <a:off x="710836" y="357668"/>
            <a:ext cx="85083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pPr lvl="0"/>
            <a:endParaRPr lang="en-IN" sz="2400" dirty="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E643A-C509-D540-A303-6D26B8B5A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36" y="1889258"/>
            <a:ext cx="734959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Result / Final Outcome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Successfully developed a web-based online examination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Implemented secure login for Student, Teacher, and Admin.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Teachers can create and manage quizzes.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Students can attempt exams within a given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Automatic evaluation and result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Reduced manual work and paperwork.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Improved speed and accuracy of examinations.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Key Findings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Online exams save time and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Automated evaluation reduces human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Django provides strong security and reliability.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6119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479">
        <p15:prstTrans prst="peelOff"/>
      </p:transition>
    </mc:Choice>
    <mc:Fallback>
      <p:transition spd="slow" advTm="479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258F74-D91E-44F4-A117-115DE4AF3372}"/>
              </a:ext>
            </a:extLst>
          </p:cNvPr>
          <p:cNvSpPr txBox="1"/>
          <p:nvPr/>
        </p:nvSpPr>
        <p:spPr>
          <a:xfrm>
            <a:off x="612559" y="301841"/>
            <a:ext cx="70044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pPr lvl="0"/>
            <a:endParaRPr lang="en-IN" sz="2400" dirty="0">
              <a:solidFill>
                <a:schemeClr val="lt1"/>
              </a:solidFill>
            </a:endParaRPr>
          </a:p>
          <a:p>
            <a:pPr lvl="0"/>
            <a:endParaRPr lang="en-IN" sz="2400" dirty="0">
              <a:solidFill>
                <a:schemeClr val="lt1"/>
              </a:solidFill>
            </a:endParaRP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BD08C-8169-8AEB-AE31-16DB333B0A36}"/>
              </a:ext>
            </a:extLst>
          </p:cNvPr>
          <p:cNvSpPr txBox="1"/>
          <p:nvPr/>
        </p:nvSpPr>
        <p:spPr>
          <a:xfrm>
            <a:off x="719714" y="1871501"/>
            <a:ext cx="7128769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Challenges Faced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Implementing secure authentication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Preventing multiple submissions.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Debugging backend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Integrating frontend with backend.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Mobile application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AI-based cheating detection..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Performance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Multi-language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Integration with Learning Management Systems (LMS).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7427F-FE6C-C9B7-EE48-75A64C06DF77}"/>
              </a:ext>
            </a:extLst>
          </p:cNvPr>
          <p:cNvSpPr txBox="1"/>
          <p:nvPr/>
        </p:nvSpPr>
        <p:spPr>
          <a:xfrm>
            <a:off x="728836" y="1267912"/>
            <a:ext cx="5060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800" dirty="0">
                <a:solidFill>
                  <a:srgbClr val="3F3F3F"/>
                </a:solidFill>
              </a:rPr>
              <a:t>Results &amp; Performance</a:t>
            </a:r>
            <a:endParaRPr lang="en-US" sz="1800" dirty="0"/>
          </a:p>
        </p:txBody>
      </p:sp>
      <p:sp>
        <p:nvSpPr>
          <p:cNvPr id="6" name="Google Shape;90;p2">
            <a:extLst>
              <a:ext uri="{FF2B5EF4-FFF2-40B4-BE49-F238E27FC236}">
                <a16:creationId xmlns:a16="http://schemas.microsoft.com/office/drawing/2014/main" id="{014844E3-1E71-5561-4157-3607AD4F00D4}"/>
              </a:ext>
            </a:extLst>
          </p:cNvPr>
          <p:cNvSpPr/>
          <p:nvPr/>
        </p:nvSpPr>
        <p:spPr>
          <a:xfrm>
            <a:off x="710836" y="1326578"/>
            <a:ext cx="36000" cy="252000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21656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233">
        <p15:prstTrans prst="peelOff"/>
      </p:transition>
    </mc:Choice>
    <mc:Fallback>
      <p:transition spd="slow" advTm="233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A2251B-C79D-D7B4-A0E6-93ACF9A4EA62}"/>
              </a:ext>
            </a:extLst>
          </p:cNvPr>
          <p:cNvSpPr txBox="1"/>
          <p:nvPr/>
        </p:nvSpPr>
        <p:spPr>
          <a:xfrm>
            <a:off x="674703" y="292965"/>
            <a:ext cx="5397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66FA8-B7EF-E598-EB00-DC199DEF1473}"/>
              </a:ext>
            </a:extLst>
          </p:cNvPr>
          <p:cNvSpPr txBox="1"/>
          <p:nvPr/>
        </p:nvSpPr>
        <p:spPr>
          <a:xfrm>
            <a:off x="746836" y="1255412"/>
            <a:ext cx="449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3F3F3F"/>
                </a:solidFill>
              </a:rPr>
              <a:t>Results &amp; Performance</a:t>
            </a:r>
            <a:endParaRPr lang="en-US" sz="1800" dirty="0"/>
          </a:p>
          <a:p>
            <a:endParaRPr lang="en-IN" sz="1800" dirty="0"/>
          </a:p>
        </p:txBody>
      </p:sp>
      <p:sp>
        <p:nvSpPr>
          <p:cNvPr id="4" name="Google Shape;90;p2">
            <a:extLst>
              <a:ext uri="{FF2B5EF4-FFF2-40B4-BE49-F238E27FC236}">
                <a16:creationId xmlns:a16="http://schemas.microsoft.com/office/drawing/2014/main" id="{BEFDA9B5-8231-9425-D439-7E0F856314B3}"/>
              </a:ext>
            </a:extLst>
          </p:cNvPr>
          <p:cNvSpPr/>
          <p:nvPr/>
        </p:nvSpPr>
        <p:spPr>
          <a:xfrm>
            <a:off x="710836" y="1326578"/>
            <a:ext cx="36000" cy="252000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187FF-E20A-CD3B-526F-F7B757CDC6CF}"/>
              </a:ext>
            </a:extLst>
          </p:cNvPr>
          <p:cNvSpPr txBox="1"/>
          <p:nvPr/>
        </p:nvSpPr>
        <p:spPr>
          <a:xfrm>
            <a:off x="568171" y="2093936"/>
            <a:ext cx="76081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Features to be Added</a:t>
            </a:r>
          </a:p>
          <a:p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Live video monitoring during exams.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Question randomization.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Auto-save answers.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Resume exam feature.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Detailed performance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Certificate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Notification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Offline exam mode.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398348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52">
        <p15:prstTrans prst="peelOff"/>
      </p:transition>
    </mc:Choice>
    <mc:Fallback>
      <p:transition spd="slow" advTm="152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" y="0"/>
            <a:ext cx="9902826" cy="6858000"/>
            <a:chOff x="-1" y="0"/>
            <a:chExt cx="9902826" cy="6858000"/>
          </a:xfrm>
        </p:grpSpPr>
        <p:pic>
          <p:nvPicPr>
            <p:cNvPr id="11" name="그림 2">
              <a:extLst>
                <a:ext uri="{FF2B5EF4-FFF2-40B4-BE49-F238E27FC236}">
                  <a16:creationId xmlns:a16="http://schemas.microsoft.com/office/drawing/2014/main" id="{5DB88D6A-0437-41B5-8719-35E861A56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198"/>
              <a:ext cx="9902825" cy="6855802"/>
            </a:xfrm>
            <a:prstGeom prst="rect">
              <a:avLst/>
            </a:prstGeom>
          </p:spPr>
        </p:pic>
        <p:sp>
          <p:nvSpPr>
            <p:cNvPr id="13" name="직사각형 17">
              <a:extLst>
                <a:ext uri="{FF2B5EF4-FFF2-40B4-BE49-F238E27FC236}">
                  <a16:creationId xmlns:a16="http://schemas.microsoft.com/office/drawing/2014/main" id="{789C5074-4DAE-4026-AD47-B9945924B2E2}"/>
                </a:ext>
              </a:extLst>
            </p:cNvPr>
            <p:cNvSpPr/>
            <p:nvPr/>
          </p:nvSpPr>
          <p:spPr>
            <a:xfrm>
              <a:off x="-1" y="0"/>
              <a:ext cx="9902826" cy="685800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" panose="020B0503030303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11">
              <a:extLst>
                <a:ext uri="{FF2B5EF4-FFF2-40B4-BE49-F238E27FC236}">
                  <a16:creationId xmlns:a16="http://schemas.microsoft.com/office/drawing/2014/main" id="{8F374A7D-F260-4587-9A59-12BC85A3DDC1}"/>
                </a:ext>
              </a:extLst>
            </p:cNvPr>
            <p:cNvCxnSpPr/>
            <p:nvPr/>
          </p:nvCxnSpPr>
          <p:spPr>
            <a:xfrm>
              <a:off x="656391" y="2327183"/>
              <a:ext cx="0" cy="197605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33">
              <a:extLst>
                <a:ext uri="{FF2B5EF4-FFF2-40B4-BE49-F238E27FC236}">
                  <a16:creationId xmlns:a16="http://schemas.microsoft.com/office/drawing/2014/main" id="{D24015EF-24A9-454E-B555-41065A382381}"/>
                </a:ext>
              </a:extLst>
            </p:cNvPr>
            <p:cNvSpPr/>
            <p:nvPr/>
          </p:nvSpPr>
          <p:spPr>
            <a:xfrm>
              <a:off x="848337" y="2399574"/>
              <a:ext cx="8398097" cy="18312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Samsung Sharp Sans" pitchFamily="2" charset="0"/>
                  <a:cs typeface="Samsung Sharp Sans" pitchFamily="2" charset="0"/>
                </a:rPr>
                <a:t>Thank You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2400" b="1" kern="1200" dirty="0">
                <a:solidFill>
                  <a:prstClr val="white"/>
                </a:solidFill>
                <a:latin typeface="+mj-lt"/>
                <a:ea typeface="Samsung Sharp Sans" pitchFamily="2" charset="0"/>
                <a:cs typeface="Samsung Sharp Sans" pitchFamily="2" charset="0"/>
              </a:endParaRPr>
            </a:p>
            <a:p>
              <a:pPr lvl="0" latinLnBrk="1">
                <a:buClrTx/>
                <a:defRPr/>
              </a:pPr>
              <a:r>
                <a:rPr lang="en-IN" sz="4000" b="1" dirty="0"/>
                <a:t>Open for questions</a:t>
              </a:r>
              <a:endParaRPr kumimoji="0" lang="en-US" altLang="ko-KR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Samsung Sharp Sans" pitchFamily="2" charset="0"/>
                <a:cs typeface="Samsung Sharp Sans" pitchFamily="2" charset="0"/>
              </a:endParaRPr>
            </a:p>
          </p:txBody>
        </p:sp>
      </p:grpSp>
      <p:cxnSp>
        <p:nvCxnSpPr>
          <p:cNvPr id="21" name="직선 연결선 8">
            <a:extLst>
              <a:ext uri="{FF2B5EF4-FFF2-40B4-BE49-F238E27FC236}">
                <a16:creationId xmlns:a16="http://schemas.microsoft.com/office/drawing/2014/main" id="{25DE7436-47BD-40B7-92CB-A7CD2878D696}"/>
              </a:ext>
            </a:extLst>
          </p:cNvPr>
          <p:cNvCxnSpPr/>
          <p:nvPr/>
        </p:nvCxnSpPr>
        <p:spPr>
          <a:xfrm>
            <a:off x="569681" y="6209429"/>
            <a:ext cx="87743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7">
            <a:extLst>
              <a:ext uri="{FF2B5EF4-FFF2-40B4-BE49-F238E27FC236}">
                <a16:creationId xmlns:a16="http://schemas.microsoft.com/office/drawing/2014/main" id="{7FDCF192-C90A-4624-9B5C-7829663CF369}"/>
              </a:ext>
            </a:extLst>
          </p:cNvPr>
          <p:cNvSpPr/>
          <p:nvPr/>
        </p:nvSpPr>
        <p:spPr>
          <a:xfrm>
            <a:off x="572597" y="6355371"/>
            <a:ext cx="2888788" cy="200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3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29037022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647">
        <p15:prstTrans prst="peelOff"/>
      </p:transition>
    </mc:Choice>
    <mc:Fallback>
      <p:transition spd="slow" advTm="647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77">
        <p15:prstTrans prst="peelOff"/>
      </p:transition>
    </mc:Choice>
    <mc:Fallback>
      <p:transition spd="slow" advTm="77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1179</Words>
  <Application>Microsoft Office PowerPoint</Application>
  <PresentationFormat>Custom</PresentationFormat>
  <Paragraphs>232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Malgun Gothic</vt:lpstr>
      <vt:lpstr>Arial</vt:lpstr>
      <vt:lpstr>Calibri</vt:lpstr>
      <vt:lpstr>Samsung Sharp Sans Bold</vt:lpstr>
      <vt:lpstr>SamsungOne 400</vt:lpstr>
      <vt:lpstr>SamsungSharpSans-Medium</vt:lpstr>
      <vt:lpstr>Wingdings</vt:lpstr>
      <vt:lpstr>Office Theme</vt:lpstr>
      <vt:lpstr>Online Examination System(Examsphere)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Soon Yong Chang</dc:creator>
  <cp:lastModifiedBy>Arushi Kaushal</cp:lastModifiedBy>
  <cp:revision>12</cp:revision>
  <dcterms:created xsi:type="dcterms:W3CDTF">2019-07-06T14:12:49Z</dcterms:created>
  <dcterms:modified xsi:type="dcterms:W3CDTF">2026-02-03T09:21:29Z</dcterms:modified>
</cp:coreProperties>
</file>