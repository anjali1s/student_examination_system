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906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7">
          <p15:clr>
            <a:srgbClr val="A4A3A4"/>
          </p15:clr>
        </p15:guide>
        <p15:guide id="2" pos="3120">
          <p15:clr>
            <a:srgbClr val="A4A3A4"/>
          </p15:clr>
        </p15:guide>
        <p15:guide id="3" orient="horz" pos="1412">
          <p15:clr>
            <a:srgbClr val="A4A3A4"/>
          </p15:clr>
        </p15:guide>
      </p15:sldGuideLst>
    </p:ext>
    <p:ext uri="{2D200454-40CA-4A62-9FC3-DE9A4176ACB9}">
      <p15:notesGuideLst>
        <p15:guide id="1" orient="horz" pos="3127">
          <p15:clr>
            <a:srgbClr val="A4A3A4"/>
          </p15:clr>
        </p15:guide>
        <p15:guide id="2" pos="2141">
          <p15:clr>
            <a:srgbClr val="A4A3A4"/>
          </p15:clr>
        </p15:guide>
      </p15:notesGuideLst>
    </p:ext>
    <p:ext uri="GoogleSlidesCustomDataVersion2">
      <go:slidesCustomData xmlns:go="http://customooxmlschemas.google.com/" r:id="rId15" roundtripDataSignature="AMtx7mi9coYb2Txj1ST2Ro6BfPdnInOG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7" orient="horz"/>
        <p:guide pos="3120"/>
        <p:guide pos="1412" orient="horz"/>
      </p:guideLst>
    </p:cSldViewPr>
  </p:slideViewPr>
  <p:notesViewPr>
    <p:cSldViewPr snapToGrid="0">
      <p:cViewPr varScale="1">
        <p:scale>
          <a:sx n="100" d="100"/>
          <a:sy n="100" d="100"/>
        </p:scale>
        <p:origin x="0" y="0"/>
      </p:cViewPr>
      <p:guideLst>
        <p:guide pos="3127" orient="horz"/>
        <p:guide pos="2141"/>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633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4" name="Google Shape;4;n"/>
          <p:cNvSpPr txBox="1"/>
          <p:nvPr>
            <p:ph idx="10" type="dt"/>
          </p:nvPr>
        </p:nvSpPr>
        <p:spPr>
          <a:xfrm>
            <a:off x="3850443" y="0"/>
            <a:ext cx="2945659" cy="496332"/>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5" name="Google Shape;5;n"/>
          <p:cNvSpPr/>
          <p:nvPr>
            <p:ph idx="3"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8" name="Google Shape;8;n"/>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p:nvPr>
            <p:ph idx="2" type="sldImg"/>
          </p:nvPr>
        </p:nvSpPr>
        <p:spPr>
          <a:xfrm>
            <a:off x="182563" y="539750"/>
            <a:ext cx="6527800" cy="4521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notes"/>
          <p:cNvSpPr txBox="1"/>
          <p:nvPr>
            <p:ph idx="1" type="body"/>
          </p:nvPr>
        </p:nvSpPr>
        <p:spPr>
          <a:xfrm>
            <a:off x="679768" y="5376929"/>
            <a:ext cx="5438140" cy="380521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p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b="0" i="0" sz="13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2: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4" name="Google Shape;154;p2: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5" name="Google Shape;165;p3: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4: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77" name="Google Shape;177;p4: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5: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8" name="Google Shape;188;p5: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8" name="Google Shape;198;p6: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7: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6" name="Google Shape;206;p7: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7" name="Google Shape;217;p8: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8" name="Google Shape;228;p9: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ont Cover">
  <p:cSld name="Front Cover">
    <p:bg>
      <p:bgPr>
        <a:solidFill>
          <a:srgbClr val="F2F2F2"/>
        </a:solidFill>
      </p:bgPr>
    </p:bg>
    <p:spTree>
      <p:nvGrpSpPr>
        <p:cNvPr id="10" name="Shape 10"/>
        <p:cNvGrpSpPr/>
        <p:nvPr/>
      </p:nvGrpSpPr>
      <p:grpSpPr>
        <a:xfrm>
          <a:off x="0" y="0"/>
          <a:ext cx="0" cy="0"/>
          <a:chOff x="0" y="0"/>
          <a:chExt cx="0" cy="0"/>
        </a:xfrm>
      </p:grpSpPr>
      <p:pic>
        <p:nvPicPr>
          <p:cNvPr id="11" name="Google Shape;11;p11"/>
          <p:cNvPicPr preferRelativeResize="0"/>
          <p:nvPr/>
        </p:nvPicPr>
        <p:blipFill rotWithShape="1">
          <a:blip r:embed="rId2">
            <a:alphaModFix/>
          </a:blip>
          <a:srcRect b="0" l="0" r="0" t="0"/>
          <a:stretch/>
        </p:blipFill>
        <p:spPr>
          <a:xfrm>
            <a:off x="0" y="0"/>
            <a:ext cx="9906000" cy="6858000"/>
          </a:xfrm>
          <a:prstGeom prst="rect">
            <a:avLst/>
          </a:prstGeom>
          <a:noFill/>
          <a:ln>
            <a:noFill/>
          </a:ln>
        </p:spPr>
      </p:pic>
      <p:sp>
        <p:nvSpPr>
          <p:cNvPr id="12" name="Google Shape;12;p11"/>
          <p:cNvSpPr/>
          <p:nvPr/>
        </p:nvSpPr>
        <p:spPr>
          <a:xfrm>
            <a:off x="449612" y="450000"/>
            <a:ext cx="1282433"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b="0" i="0" sz="1960" u="none" cap="none" strike="noStrike">
              <a:solidFill>
                <a:schemeClr val="dk1"/>
              </a:solidFill>
              <a:latin typeface="Arial"/>
              <a:ea typeface="Arial"/>
              <a:cs typeface="Arial"/>
              <a:sym typeface="Arial"/>
            </a:endParaRPr>
          </a:p>
        </p:txBody>
      </p:sp>
      <p:pic>
        <p:nvPicPr>
          <p:cNvPr id="13" name="Google Shape;13;p11"/>
          <p:cNvPicPr preferRelativeResize="0"/>
          <p:nvPr/>
        </p:nvPicPr>
        <p:blipFill rotWithShape="1">
          <a:blip r:embed="rId3">
            <a:alphaModFix/>
          </a:blip>
          <a:srcRect b="0" l="0" r="0" t="0"/>
          <a:stretch/>
        </p:blipFill>
        <p:spPr>
          <a:xfrm>
            <a:off x="4266998" y="6141164"/>
            <a:ext cx="1372004" cy="45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able of Contents2">
  <p:cSld name="2_Table of Contents2">
    <p:spTree>
      <p:nvGrpSpPr>
        <p:cNvPr id="14" name="Shape 14"/>
        <p:cNvGrpSpPr/>
        <p:nvPr/>
      </p:nvGrpSpPr>
      <p:grpSpPr>
        <a:xfrm>
          <a:off x="0" y="0"/>
          <a:ext cx="0" cy="0"/>
          <a:chOff x="0" y="0"/>
          <a:chExt cx="0" cy="0"/>
        </a:xfrm>
      </p:grpSpPr>
      <p:pic>
        <p:nvPicPr>
          <p:cNvPr id="15" name="Google Shape;15;p12"/>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6" name="Google Shape;16;p12"/>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7" name="Google Shape;17;p12"/>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b="0" i="0" lang="en-US" sz="900" u="none" cap="none" strike="noStrike">
                <a:solidFill>
                  <a:srgbClr val="7F7F7F"/>
                </a:solidFill>
                <a:latin typeface="Arial"/>
                <a:ea typeface="Arial"/>
                <a:cs typeface="Arial"/>
                <a:sym typeface="Arial"/>
              </a:rPr>
              <a:t>‹#›</a:t>
            </a:fld>
            <a:endParaRPr b="0" i="0" sz="900" u="none" cap="none" strike="noStrike">
              <a:solidFill>
                <a:srgbClr val="7F7F7F"/>
              </a:solidFill>
              <a:latin typeface="Arial"/>
              <a:ea typeface="Arial"/>
              <a:cs typeface="Arial"/>
              <a:sym typeface="Arial"/>
            </a:endParaRPr>
          </a:p>
        </p:txBody>
      </p:sp>
      <p:sp>
        <p:nvSpPr>
          <p:cNvPr id="18" name="Google Shape;18;p12"/>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7F7F7F"/>
                </a:solidFill>
                <a:latin typeface="Arial"/>
                <a:ea typeface="Arial"/>
                <a:cs typeface="Arial"/>
                <a:sym typeface="Arial"/>
              </a:rPr>
              <a:t>Samsung Innovation Campus</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able of Contents">
  <p:cSld name="3_Table of Contents">
    <p:spTree>
      <p:nvGrpSpPr>
        <p:cNvPr id="19" name="Shape 19"/>
        <p:cNvGrpSpPr/>
        <p:nvPr/>
      </p:nvGrpSpPr>
      <p:grpSpPr>
        <a:xfrm>
          <a:off x="0" y="0"/>
          <a:ext cx="0" cy="0"/>
          <a:chOff x="0" y="0"/>
          <a:chExt cx="0" cy="0"/>
        </a:xfrm>
      </p:grpSpPr>
      <p:sp>
        <p:nvSpPr>
          <p:cNvPr id="20" name="Google Shape;20;p13"/>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b="0" i="0" lang="en-US" sz="900" u="none" cap="none" strike="noStrike">
                <a:solidFill>
                  <a:srgbClr val="7F7F7F"/>
                </a:solidFill>
                <a:latin typeface="Arial"/>
                <a:ea typeface="Arial"/>
                <a:cs typeface="Arial"/>
                <a:sym typeface="Arial"/>
              </a:rPr>
              <a:t>‹#›</a:t>
            </a:fld>
            <a:endParaRPr b="0" i="0" sz="900" u="none" cap="none" strike="noStrike">
              <a:solidFill>
                <a:srgbClr val="7F7F7F"/>
              </a:solidFill>
              <a:latin typeface="Arial"/>
              <a:ea typeface="Arial"/>
              <a:cs typeface="Arial"/>
              <a:sym typeface="Arial"/>
            </a:endParaRPr>
          </a:p>
        </p:txBody>
      </p:sp>
      <p:sp>
        <p:nvSpPr>
          <p:cNvPr id="21" name="Google Shape;21;p13"/>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7F7F7F"/>
                </a:solidFill>
                <a:latin typeface="Arial"/>
                <a:ea typeface="Arial"/>
                <a:cs typeface="Arial"/>
                <a:sym typeface="Arial"/>
              </a:rPr>
              <a:t>Samsung Innovation Campus</a:t>
            </a:r>
            <a:endParaRPr/>
          </a:p>
        </p:txBody>
      </p:sp>
      <p:sp>
        <p:nvSpPr>
          <p:cNvPr id="22" name="Google Shape;22;p13"/>
          <p:cNvSpPr txBox="1"/>
          <p:nvPr/>
        </p:nvSpPr>
        <p:spPr>
          <a:xfrm>
            <a:off x="4808220" y="6498000"/>
            <a:ext cx="4391087"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r>
              <a:rPr b="0" i="0" lang="en-US" sz="900" u="none" cap="none" strike="noStrike">
                <a:solidFill>
                  <a:srgbClr val="7F7F7F"/>
                </a:solidFill>
                <a:latin typeface="Arial"/>
                <a:ea typeface="Arial"/>
                <a:cs typeface="Arial"/>
                <a:sym typeface="Arial"/>
              </a:rPr>
              <a:t>Chapter 2. Python Programing Basic - Sequence Data type in Python</a:t>
            </a:r>
            <a:endParaRPr/>
          </a:p>
        </p:txBody>
      </p:sp>
      <p:grpSp>
        <p:nvGrpSpPr>
          <p:cNvPr id="23" name="Google Shape;23;p13"/>
          <p:cNvGrpSpPr/>
          <p:nvPr/>
        </p:nvGrpSpPr>
        <p:grpSpPr>
          <a:xfrm>
            <a:off x="0" y="0"/>
            <a:ext cx="9906000" cy="1065598"/>
            <a:chOff x="0" y="0"/>
            <a:chExt cx="9906000" cy="1065598"/>
          </a:xfrm>
        </p:grpSpPr>
        <p:sp>
          <p:nvSpPr>
            <p:cNvPr id="24" name="Google Shape;24;p13"/>
            <p:cNvSpPr/>
            <p:nvPr/>
          </p:nvSpPr>
          <p:spPr>
            <a:xfrm>
              <a:off x="0" y="788600"/>
              <a:ext cx="9906000" cy="276998"/>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ulim"/>
                <a:ea typeface="Gulim"/>
                <a:cs typeface="Gulim"/>
                <a:sym typeface="Gulim"/>
              </a:endParaRPr>
            </a:p>
          </p:txBody>
        </p:sp>
        <p:sp>
          <p:nvSpPr>
            <p:cNvPr id="25" name="Google Shape;25;p13"/>
            <p:cNvSpPr/>
            <p:nvPr/>
          </p:nvSpPr>
          <p:spPr>
            <a:xfrm>
              <a:off x="0" y="0"/>
              <a:ext cx="9906000" cy="927100"/>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ulim"/>
                <a:ea typeface="Gulim"/>
                <a:cs typeface="Gulim"/>
                <a:sym typeface="Gulim"/>
              </a:endParaRPr>
            </a:p>
          </p:txBody>
        </p:sp>
      </p:grpSp>
      <p:sp>
        <p:nvSpPr>
          <p:cNvPr id="26" name="Google Shape;26;p13"/>
          <p:cNvSpPr/>
          <p:nvPr/>
        </p:nvSpPr>
        <p:spPr>
          <a:xfrm>
            <a:off x="449612" y="523712"/>
            <a:ext cx="178400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chemeClr val="lt1"/>
                </a:solidFill>
                <a:latin typeface="Arial"/>
                <a:ea typeface="Arial"/>
                <a:cs typeface="Arial"/>
                <a:sym typeface="Arial"/>
              </a:rPr>
              <a:t>Chapter 2 Quiz</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27" name="Shape 27"/>
        <p:cNvGrpSpPr/>
        <p:nvPr/>
      </p:nvGrpSpPr>
      <p:grpSpPr>
        <a:xfrm>
          <a:off x="0" y="0"/>
          <a:ext cx="0" cy="0"/>
          <a:chOff x="0" y="0"/>
          <a:chExt cx="0" cy="0"/>
        </a:xfrm>
      </p:grpSpPr>
      <p:cxnSp>
        <p:nvCxnSpPr>
          <p:cNvPr id="28" name="Google Shape;28;p14"/>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29" name="Google Shape;29;p14"/>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0" name="Google Shape;30;p14"/>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31" name="Google Shape;31;p14"/>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able of Contents">
  <p:cSld name="1_Table of Contents">
    <p:spTree>
      <p:nvGrpSpPr>
        <p:cNvPr id="32" name="Shape 32"/>
        <p:cNvGrpSpPr/>
        <p:nvPr/>
      </p:nvGrpSpPr>
      <p:grpSpPr>
        <a:xfrm>
          <a:off x="0" y="0"/>
          <a:ext cx="0" cy="0"/>
          <a:chOff x="0" y="0"/>
          <a:chExt cx="0" cy="0"/>
        </a:xfrm>
      </p:grpSpPr>
      <p:pic>
        <p:nvPicPr>
          <p:cNvPr id="33" name="Google Shape;33;p15"/>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34" name="Google Shape;34;p15"/>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35" name="Google Shape;35;p15"/>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6" name="Google Shape;36;p15"/>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37" name="Google Shape;37;p15"/>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able of Contents">
  <p:cSld name="2_Table of Contents">
    <p:spTree>
      <p:nvGrpSpPr>
        <p:cNvPr id="38" name="Shape 38"/>
        <p:cNvGrpSpPr/>
        <p:nvPr/>
      </p:nvGrpSpPr>
      <p:grpSpPr>
        <a:xfrm>
          <a:off x="0" y="0"/>
          <a:ext cx="0" cy="0"/>
          <a:chOff x="0" y="0"/>
          <a:chExt cx="0" cy="0"/>
        </a:xfrm>
      </p:grpSpPr>
      <p:pic>
        <p:nvPicPr>
          <p:cNvPr id="39" name="Google Shape;39;p16"/>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40" name="Google Shape;40;p16"/>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41" name="Google Shape;41;p16"/>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42" name="Google Shape;42;p16"/>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43" name="Google Shape;43;p16"/>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more">
  <p:cSld name="onemore">
    <p:spTree>
      <p:nvGrpSpPr>
        <p:cNvPr id="44" name="Shape 44"/>
        <p:cNvGrpSpPr/>
        <p:nvPr/>
      </p:nvGrpSpPr>
      <p:grpSpPr>
        <a:xfrm>
          <a:off x="0" y="0"/>
          <a:ext cx="0" cy="0"/>
          <a:chOff x="0" y="0"/>
          <a:chExt cx="0" cy="0"/>
        </a:xfrm>
      </p:grpSpPr>
      <p:grpSp>
        <p:nvGrpSpPr>
          <p:cNvPr id="45" name="Google Shape;45;p17"/>
          <p:cNvGrpSpPr/>
          <p:nvPr/>
        </p:nvGrpSpPr>
        <p:grpSpPr>
          <a:xfrm>
            <a:off x="449612" y="1462227"/>
            <a:ext cx="9003600" cy="4500283"/>
            <a:chOff x="578678" y="1445207"/>
            <a:chExt cx="8748000" cy="4136077"/>
          </a:xfrm>
        </p:grpSpPr>
        <p:sp>
          <p:nvSpPr>
            <p:cNvPr id="46" name="Google Shape;46;p17"/>
            <p:cNvSpPr/>
            <p:nvPr/>
          </p:nvSpPr>
          <p:spPr>
            <a:xfrm>
              <a:off x="578678" y="2038352"/>
              <a:ext cx="8748000" cy="3542932"/>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47" name="Google Shape;47;p17"/>
            <p:cNvSpPr/>
            <p:nvPr/>
          </p:nvSpPr>
          <p:spPr>
            <a:xfrm>
              <a:off x="578678" y="1445207"/>
              <a:ext cx="8748000" cy="617940"/>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48" name="Google Shape;48;p17"/>
            <p:cNvSpPr/>
            <p:nvPr/>
          </p:nvSpPr>
          <p:spPr>
            <a:xfrm rot="2700000">
              <a:off x="8915045" y="1573924"/>
              <a:ext cx="396525" cy="198725"/>
            </a:xfrm>
            <a:prstGeom prst="triangle">
              <a:avLst>
                <a:gd fmla="val 50000" name="adj"/>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grpSp>
        <p:nvGrpSpPr>
          <p:cNvPr id="49" name="Google Shape;49;p17"/>
          <p:cNvGrpSpPr/>
          <p:nvPr/>
        </p:nvGrpSpPr>
        <p:grpSpPr>
          <a:xfrm>
            <a:off x="0" y="1"/>
            <a:ext cx="9906000" cy="999802"/>
            <a:chOff x="0" y="1"/>
            <a:chExt cx="9906000" cy="999802"/>
          </a:xfrm>
        </p:grpSpPr>
        <p:sp>
          <p:nvSpPr>
            <p:cNvPr id="50" name="Google Shape;50;p17"/>
            <p:cNvSpPr/>
            <p:nvPr/>
          </p:nvSpPr>
          <p:spPr>
            <a:xfrm>
              <a:off x="0" y="619930"/>
              <a:ext cx="9906000" cy="379873"/>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51" name="Google Shape;51;p17"/>
            <p:cNvSpPr/>
            <p:nvPr/>
          </p:nvSpPr>
          <p:spPr>
            <a:xfrm>
              <a:off x="0" y="1"/>
              <a:ext cx="9906000" cy="877824"/>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cxnSp>
        <p:nvCxnSpPr>
          <p:cNvPr id="52" name="Google Shape;52;p17"/>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53" name="Google Shape;53;p17"/>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54" name="Google Shape;54;p17"/>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grpSp>
        <p:nvGrpSpPr>
          <p:cNvPr id="55" name="Google Shape;55;p17"/>
          <p:cNvGrpSpPr/>
          <p:nvPr/>
        </p:nvGrpSpPr>
        <p:grpSpPr>
          <a:xfrm>
            <a:off x="747834" y="2408824"/>
            <a:ext cx="8539600" cy="3303528"/>
            <a:chOff x="747834" y="2129937"/>
            <a:chExt cx="8539600" cy="3303528"/>
          </a:xfrm>
        </p:grpSpPr>
        <p:grpSp>
          <p:nvGrpSpPr>
            <p:cNvPr id="56" name="Google Shape;56;p17"/>
            <p:cNvGrpSpPr/>
            <p:nvPr/>
          </p:nvGrpSpPr>
          <p:grpSpPr>
            <a:xfrm>
              <a:off x="747834" y="2129937"/>
              <a:ext cx="8539600" cy="1267182"/>
              <a:chOff x="805623" y="2423005"/>
              <a:chExt cx="8539600" cy="1267182"/>
            </a:xfrm>
          </p:grpSpPr>
          <p:grpSp>
            <p:nvGrpSpPr>
              <p:cNvPr id="57" name="Google Shape;57;p17"/>
              <p:cNvGrpSpPr/>
              <p:nvPr/>
            </p:nvGrpSpPr>
            <p:grpSpPr>
              <a:xfrm>
                <a:off x="966158" y="2423005"/>
                <a:ext cx="8379065" cy="1267182"/>
                <a:chOff x="1098893" y="2558690"/>
                <a:chExt cx="8379065" cy="1267182"/>
              </a:xfrm>
            </p:grpSpPr>
            <p:sp>
              <p:nvSpPr>
                <p:cNvPr id="58" name="Google Shape;58;p17"/>
                <p:cNvSpPr/>
                <p:nvPr/>
              </p:nvSpPr>
              <p:spPr>
                <a:xfrm>
                  <a:off x="1098894" y="2558690"/>
                  <a:ext cx="7907946" cy="207370"/>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Guideline, mechanisms &amp; contingency plan</a:t>
                  </a:r>
                  <a:endParaRPr/>
                </a:p>
              </p:txBody>
            </p:sp>
            <p:sp>
              <p:nvSpPr>
                <p:cNvPr id="59" name="Google Shape;59;p17"/>
                <p:cNvSpPr/>
                <p:nvPr/>
              </p:nvSpPr>
              <p:spPr>
                <a:xfrm>
                  <a:off x="1098893" y="2799950"/>
                  <a:ext cx="8379065" cy="1025922"/>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endParaRPr/>
                </a:p>
              </p:txBody>
            </p:sp>
          </p:grpSp>
          <p:sp>
            <p:nvSpPr>
              <p:cNvPr id="60" name="Google Shape;60;p17"/>
              <p:cNvSpPr/>
              <p:nvPr/>
            </p:nvSpPr>
            <p:spPr>
              <a:xfrm>
                <a:off x="805623" y="2439855"/>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61" name="Google Shape;61;p17"/>
            <p:cNvGrpSpPr/>
            <p:nvPr/>
          </p:nvGrpSpPr>
          <p:grpSpPr>
            <a:xfrm>
              <a:off x="747834" y="3559917"/>
              <a:ext cx="8539600" cy="1055714"/>
              <a:chOff x="805623" y="3889855"/>
              <a:chExt cx="8539600" cy="1055714"/>
            </a:xfrm>
          </p:grpSpPr>
          <p:grpSp>
            <p:nvGrpSpPr>
              <p:cNvPr id="62" name="Google Shape;62;p17"/>
              <p:cNvGrpSpPr/>
              <p:nvPr/>
            </p:nvGrpSpPr>
            <p:grpSpPr>
              <a:xfrm>
                <a:off x="958539" y="3889855"/>
                <a:ext cx="8386684" cy="1055714"/>
                <a:chOff x="1098894" y="2558690"/>
                <a:chExt cx="8386684" cy="1055714"/>
              </a:xfrm>
            </p:grpSpPr>
            <p:sp>
              <p:nvSpPr>
                <p:cNvPr id="63" name="Google Shape;63;p17"/>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Pairing similar, not necessarily equal, abilities as partners</a:t>
                  </a:r>
                  <a:endParaRPr/>
                </a:p>
              </p:txBody>
            </p:sp>
            <p:sp>
              <p:nvSpPr>
                <p:cNvPr id="64" name="Google Shape;64;p17"/>
                <p:cNvSpPr/>
                <p:nvPr/>
              </p:nvSpPr>
              <p:spPr>
                <a:xfrm>
                  <a:off x="1098894" y="2799950"/>
                  <a:ext cx="8386684" cy="814454"/>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endParaRPr/>
                </a:p>
              </p:txBody>
            </p:sp>
          </p:grpSp>
          <p:sp>
            <p:nvSpPr>
              <p:cNvPr id="65" name="Google Shape;65;p17"/>
              <p:cNvSpPr/>
              <p:nvPr/>
            </p:nvSpPr>
            <p:spPr>
              <a:xfrm>
                <a:off x="805623" y="389748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66" name="Google Shape;66;p17"/>
            <p:cNvGrpSpPr/>
            <p:nvPr/>
          </p:nvGrpSpPr>
          <p:grpSpPr>
            <a:xfrm>
              <a:off x="747834" y="4781836"/>
              <a:ext cx="8539600" cy="651629"/>
              <a:chOff x="805623" y="5143345"/>
              <a:chExt cx="8539600" cy="651629"/>
            </a:xfrm>
          </p:grpSpPr>
          <p:grpSp>
            <p:nvGrpSpPr>
              <p:cNvPr id="67" name="Google Shape;67;p17"/>
              <p:cNvGrpSpPr/>
              <p:nvPr/>
            </p:nvGrpSpPr>
            <p:grpSpPr>
              <a:xfrm>
                <a:off x="966159" y="5143345"/>
                <a:ext cx="8379064" cy="651629"/>
                <a:chOff x="1098894" y="2558690"/>
                <a:chExt cx="8379064" cy="651629"/>
              </a:xfrm>
            </p:grpSpPr>
            <p:sp>
              <p:nvSpPr>
                <p:cNvPr id="68" name="Google Shape;68;p17"/>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b="1" lang="en-US" sz="1300">
                      <a:solidFill>
                        <a:srgbClr val="0D0D0D"/>
                      </a:solidFill>
                      <a:latin typeface="Arial"/>
                      <a:ea typeface="Arial"/>
                      <a:cs typeface="Arial"/>
                      <a:sym typeface="Arial"/>
                    </a:rPr>
                    <a:t>Motivate students by offering extra incentives </a:t>
                  </a:r>
                  <a:endParaRPr/>
                </a:p>
              </p:txBody>
            </p:sp>
            <p:sp>
              <p:nvSpPr>
                <p:cNvPr id="69" name="Google Shape;69;p17"/>
                <p:cNvSpPr/>
                <p:nvPr/>
              </p:nvSpPr>
              <p:spPr>
                <a:xfrm>
                  <a:off x="1098894" y="2799950"/>
                  <a:ext cx="8379064" cy="410369"/>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Offering extra incentives can help motivate students to pair, especially with advanced students. Some teachers have found it helpful to require students to pair for only one or two assignments. </a:t>
                  </a:r>
                  <a:endParaRPr/>
                </a:p>
              </p:txBody>
            </p:sp>
          </p:grpSp>
          <p:sp>
            <p:nvSpPr>
              <p:cNvPr id="70" name="Google Shape;70;p17"/>
              <p:cNvSpPr/>
              <p:nvPr/>
            </p:nvSpPr>
            <p:spPr>
              <a:xfrm>
                <a:off x="805623" y="515601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grpSp>
        <p:nvGrpSpPr>
          <p:cNvPr id="71" name="Google Shape;71;p17"/>
          <p:cNvGrpSpPr/>
          <p:nvPr/>
        </p:nvGrpSpPr>
        <p:grpSpPr>
          <a:xfrm>
            <a:off x="589808" y="1588471"/>
            <a:ext cx="6615664" cy="430887"/>
            <a:chOff x="790976" y="1592058"/>
            <a:chExt cx="6615664" cy="430887"/>
          </a:xfrm>
        </p:grpSpPr>
        <p:sp>
          <p:nvSpPr>
            <p:cNvPr id="72" name="Google Shape;72;p17"/>
            <p:cNvSpPr/>
            <p:nvPr/>
          </p:nvSpPr>
          <p:spPr>
            <a:xfrm>
              <a:off x="1332314" y="1592058"/>
              <a:ext cx="607432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0D0D0D"/>
                  </a:solidFill>
                  <a:latin typeface="Arial"/>
                  <a:ea typeface="Arial"/>
                  <a:cs typeface="Arial"/>
                  <a:sym typeface="Arial"/>
                </a:rPr>
                <a:t>Pair Programming Practice</a:t>
              </a:r>
              <a:endParaRPr/>
            </a:p>
          </p:txBody>
        </p:sp>
        <p:pic>
          <p:nvPicPr>
            <p:cNvPr id="73" name="Google Shape;73;p17"/>
            <p:cNvPicPr preferRelativeResize="0"/>
            <p:nvPr/>
          </p:nvPicPr>
          <p:blipFill rotWithShape="1">
            <a:blip r:embed="rId2">
              <a:alphaModFix/>
            </a:blip>
            <a:srcRect b="0" l="0" r="0" t="0"/>
            <a:stretch/>
          </p:blipFill>
          <p:spPr>
            <a:xfrm>
              <a:off x="790976" y="1653961"/>
              <a:ext cx="374669" cy="323867"/>
            </a:xfrm>
            <a:prstGeom prst="rect">
              <a:avLst/>
            </a:prstGeom>
            <a:noFill/>
            <a:ln>
              <a:noFill/>
            </a:ln>
          </p:spPr>
        </p:pic>
      </p:grpSp>
      <p:sp>
        <p:nvSpPr>
          <p:cNvPr id="74" name="Google Shape;74;p17"/>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more">
  <p:cSld name="1_onemore">
    <p:spTree>
      <p:nvGrpSpPr>
        <p:cNvPr id="75" name="Shape 75"/>
        <p:cNvGrpSpPr/>
        <p:nvPr/>
      </p:nvGrpSpPr>
      <p:grpSpPr>
        <a:xfrm>
          <a:off x="0" y="0"/>
          <a:ext cx="0" cy="0"/>
          <a:chOff x="0" y="0"/>
          <a:chExt cx="0" cy="0"/>
        </a:xfrm>
      </p:grpSpPr>
      <p:grpSp>
        <p:nvGrpSpPr>
          <p:cNvPr id="76" name="Google Shape;76;p18"/>
          <p:cNvGrpSpPr/>
          <p:nvPr/>
        </p:nvGrpSpPr>
        <p:grpSpPr>
          <a:xfrm>
            <a:off x="0" y="1"/>
            <a:ext cx="9906000" cy="999802"/>
            <a:chOff x="0" y="1"/>
            <a:chExt cx="9906000" cy="999802"/>
          </a:xfrm>
        </p:grpSpPr>
        <p:sp>
          <p:nvSpPr>
            <p:cNvPr id="77" name="Google Shape;77;p18"/>
            <p:cNvSpPr/>
            <p:nvPr/>
          </p:nvSpPr>
          <p:spPr>
            <a:xfrm>
              <a:off x="0" y="619930"/>
              <a:ext cx="9906000" cy="379873"/>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78" name="Google Shape;78;p18"/>
            <p:cNvSpPr/>
            <p:nvPr/>
          </p:nvSpPr>
          <p:spPr>
            <a:xfrm>
              <a:off x="0" y="1"/>
              <a:ext cx="9906000" cy="877824"/>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cxnSp>
        <p:nvCxnSpPr>
          <p:cNvPr id="79" name="Google Shape;79;p18"/>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80" name="Google Shape;80;p18"/>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81" name="Google Shape;81;p18"/>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grpSp>
        <p:nvGrpSpPr>
          <p:cNvPr id="82" name="Google Shape;82;p18"/>
          <p:cNvGrpSpPr/>
          <p:nvPr/>
        </p:nvGrpSpPr>
        <p:grpSpPr>
          <a:xfrm>
            <a:off x="449612" y="1462227"/>
            <a:ext cx="9003600" cy="4500283"/>
            <a:chOff x="449612" y="1219200"/>
            <a:chExt cx="9003600" cy="4500283"/>
          </a:xfrm>
        </p:grpSpPr>
        <p:grpSp>
          <p:nvGrpSpPr>
            <p:cNvPr id="83" name="Google Shape;83;p18"/>
            <p:cNvGrpSpPr/>
            <p:nvPr/>
          </p:nvGrpSpPr>
          <p:grpSpPr>
            <a:xfrm>
              <a:off x="449612" y="1219200"/>
              <a:ext cx="9003600" cy="4500283"/>
              <a:chOff x="578678" y="1445207"/>
              <a:chExt cx="8748000" cy="4136077"/>
            </a:xfrm>
          </p:grpSpPr>
          <p:sp>
            <p:nvSpPr>
              <p:cNvPr id="84" name="Google Shape;84;p18"/>
              <p:cNvSpPr/>
              <p:nvPr/>
            </p:nvSpPr>
            <p:spPr>
              <a:xfrm>
                <a:off x="578678" y="2038352"/>
                <a:ext cx="8748000" cy="3542932"/>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85" name="Google Shape;85;p18"/>
              <p:cNvSpPr/>
              <p:nvPr/>
            </p:nvSpPr>
            <p:spPr>
              <a:xfrm>
                <a:off x="578678" y="1445207"/>
                <a:ext cx="8748000" cy="617940"/>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86" name="Google Shape;86;p18"/>
              <p:cNvSpPr/>
              <p:nvPr/>
            </p:nvSpPr>
            <p:spPr>
              <a:xfrm rot="2700000">
                <a:off x="8915045" y="1573924"/>
                <a:ext cx="396525" cy="198725"/>
              </a:xfrm>
              <a:prstGeom prst="triangle">
                <a:avLst>
                  <a:gd fmla="val 50000" name="adj"/>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grpSp>
          <p:nvGrpSpPr>
            <p:cNvPr id="87" name="Google Shape;87;p18"/>
            <p:cNvGrpSpPr/>
            <p:nvPr/>
          </p:nvGrpSpPr>
          <p:grpSpPr>
            <a:xfrm>
              <a:off x="747834" y="2165797"/>
              <a:ext cx="8539600" cy="1267182"/>
              <a:chOff x="805623" y="2423005"/>
              <a:chExt cx="8539600" cy="1267182"/>
            </a:xfrm>
          </p:grpSpPr>
          <p:grpSp>
            <p:nvGrpSpPr>
              <p:cNvPr id="88" name="Google Shape;88;p18"/>
              <p:cNvGrpSpPr/>
              <p:nvPr/>
            </p:nvGrpSpPr>
            <p:grpSpPr>
              <a:xfrm>
                <a:off x="966158" y="2423005"/>
                <a:ext cx="8379065" cy="1267182"/>
                <a:chOff x="1098893" y="2558690"/>
                <a:chExt cx="8379065" cy="1267182"/>
              </a:xfrm>
            </p:grpSpPr>
            <p:sp>
              <p:nvSpPr>
                <p:cNvPr id="89" name="Google Shape;89;p18"/>
                <p:cNvSpPr/>
                <p:nvPr/>
              </p:nvSpPr>
              <p:spPr>
                <a:xfrm>
                  <a:off x="1098894" y="2558690"/>
                  <a:ext cx="7907946" cy="207370"/>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Prevent collaboration cheating</a:t>
                  </a:r>
                  <a:endParaRPr/>
                </a:p>
              </p:txBody>
            </p:sp>
            <p:sp>
              <p:nvSpPr>
                <p:cNvPr id="90" name="Google Shape;90;p18"/>
                <p:cNvSpPr/>
                <p:nvPr/>
              </p:nvSpPr>
              <p:spPr>
                <a:xfrm>
                  <a:off x="1098893" y="2799950"/>
                  <a:ext cx="8379065" cy="1025922"/>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endParaRPr/>
                </a:p>
              </p:txBody>
            </p:sp>
          </p:grpSp>
          <p:sp>
            <p:nvSpPr>
              <p:cNvPr id="91" name="Google Shape;91;p18"/>
              <p:cNvSpPr/>
              <p:nvPr/>
            </p:nvSpPr>
            <p:spPr>
              <a:xfrm>
                <a:off x="805623" y="2439855"/>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92" name="Google Shape;92;p18"/>
            <p:cNvGrpSpPr/>
            <p:nvPr/>
          </p:nvGrpSpPr>
          <p:grpSpPr>
            <a:xfrm>
              <a:off x="747834" y="3595777"/>
              <a:ext cx="8539600" cy="1876451"/>
              <a:chOff x="805623" y="3889855"/>
              <a:chExt cx="8539600" cy="1876451"/>
            </a:xfrm>
          </p:grpSpPr>
          <p:grpSp>
            <p:nvGrpSpPr>
              <p:cNvPr id="93" name="Google Shape;93;p18"/>
              <p:cNvGrpSpPr/>
              <p:nvPr/>
            </p:nvGrpSpPr>
            <p:grpSpPr>
              <a:xfrm>
                <a:off x="958539" y="3889855"/>
                <a:ext cx="8386684" cy="1876451"/>
                <a:chOff x="1098894" y="2558690"/>
                <a:chExt cx="8386684" cy="1876451"/>
              </a:xfrm>
            </p:grpSpPr>
            <p:sp>
              <p:nvSpPr>
                <p:cNvPr id="94" name="Google Shape;94;p18"/>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Collaborative learning environment</a:t>
                  </a:r>
                  <a:endParaRPr/>
                </a:p>
              </p:txBody>
            </p:sp>
            <p:sp>
              <p:nvSpPr>
                <p:cNvPr id="95" name="Google Shape;95;p18"/>
                <p:cNvSpPr/>
                <p:nvPr/>
              </p:nvSpPr>
              <p:spPr>
                <a:xfrm>
                  <a:off x="1098894" y="2799950"/>
                  <a:ext cx="8386684" cy="1635191"/>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endParaRPr/>
                </a:p>
              </p:txBody>
            </p:sp>
          </p:grpSp>
          <p:sp>
            <p:nvSpPr>
              <p:cNvPr id="96" name="Google Shape;96;p18"/>
              <p:cNvSpPr/>
              <p:nvPr/>
            </p:nvSpPr>
            <p:spPr>
              <a:xfrm>
                <a:off x="805623" y="389748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97" name="Google Shape;97;p18"/>
            <p:cNvGrpSpPr/>
            <p:nvPr/>
          </p:nvGrpSpPr>
          <p:grpSpPr>
            <a:xfrm>
              <a:off x="589808" y="1345444"/>
              <a:ext cx="6615664" cy="430887"/>
              <a:chOff x="790976" y="1592058"/>
              <a:chExt cx="6615664" cy="430887"/>
            </a:xfrm>
          </p:grpSpPr>
          <p:sp>
            <p:nvSpPr>
              <p:cNvPr id="98" name="Google Shape;98;p18"/>
              <p:cNvSpPr/>
              <p:nvPr/>
            </p:nvSpPr>
            <p:spPr>
              <a:xfrm>
                <a:off x="1332314" y="1592058"/>
                <a:ext cx="607432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0D0D0D"/>
                    </a:solidFill>
                    <a:latin typeface="Arial"/>
                    <a:ea typeface="Arial"/>
                    <a:cs typeface="Arial"/>
                    <a:sym typeface="Arial"/>
                  </a:rPr>
                  <a:t>Pair Programming Practice</a:t>
                </a:r>
                <a:endParaRPr/>
              </a:p>
            </p:txBody>
          </p:sp>
          <p:pic>
            <p:nvPicPr>
              <p:cNvPr id="99" name="Google Shape;99;p18"/>
              <p:cNvPicPr preferRelativeResize="0"/>
              <p:nvPr/>
            </p:nvPicPr>
            <p:blipFill rotWithShape="1">
              <a:blip r:embed="rId2">
                <a:alphaModFix/>
              </a:blip>
              <a:srcRect b="0" l="0" r="0" t="0"/>
              <a:stretch/>
            </p:blipFill>
            <p:spPr>
              <a:xfrm>
                <a:off x="790976" y="1653961"/>
                <a:ext cx="374669" cy="323867"/>
              </a:xfrm>
              <a:prstGeom prst="rect">
                <a:avLst/>
              </a:prstGeom>
              <a:noFill/>
              <a:ln>
                <a:noFill/>
              </a:ln>
            </p:spPr>
          </p:pic>
        </p:grpSp>
      </p:grpSp>
      <p:sp>
        <p:nvSpPr>
          <p:cNvPr id="100" name="Google Shape;100;p18"/>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p:cSld name="Quiz">
    <p:spTree>
      <p:nvGrpSpPr>
        <p:cNvPr id="101" name="Shape 101"/>
        <p:cNvGrpSpPr/>
        <p:nvPr/>
      </p:nvGrpSpPr>
      <p:grpSpPr>
        <a:xfrm>
          <a:off x="0" y="0"/>
          <a:ext cx="0" cy="0"/>
          <a:chOff x="0" y="0"/>
          <a:chExt cx="0" cy="0"/>
        </a:xfrm>
      </p:grpSpPr>
      <p:sp>
        <p:nvSpPr>
          <p:cNvPr id="102" name="Google Shape;102;p19"/>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03" name="Google Shape;103;p19"/>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04" name="Google Shape;104;p19"/>
          <p:cNvSpPr txBox="1"/>
          <p:nvPr/>
        </p:nvSpPr>
        <p:spPr>
          <a:xfrm>
            <a:off x="4808220" y="6498000"/>
            <a:ext cx="4391087"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r>
              <a:rPr lang="en-US" sz="900">
                <a:solidFill>
                  <a:srgbClr val="7F7F7F"/>
                </a:solidFill>
                <a:latin typeface="Arial"/>
                <a:ea typeface="Arial"/>
                <a:cs typeface="Arial"/>
                <a:sym typeface="Arial"/>
              </a:rPr>
              <a:t>Chapter 2. Python Programing Basic</a:t>
            </a:r>
            <a:r>
              <a:rPr lang="en-US" sz="900">
                <a:solidFill>
                  <a:srgbClr val="7F7F7F"/>
                </a:solidFill>
                <a:latin typeface="Arial"/>
                <a:ea typeface="Arial"/>
                <a:cs typeface="Arial"/>
                <a:sym typeface="Arial"/>
              </a:rPr>
              <a:t> </a:t>
            </a:r>
            <a:r>
              <a:rPr lang="en-US" sz="900">
                <a:solidFill>
                  <a:srgbClr val="7F7F7F"/>
                </a:solidFill>
                <a:latin typeface="Arial"/>
                <a:ea typeface="Arial"/>
                <a:cs typeface="Arial"/>
                <a:sym typeface="Arial"/>
              </a:rPr>
              <a:t>- Sequence Data type in Python</a:t>
            </a:r>
            <a:endParaRPr/>
          </a:p>
        </p:txBody>
      </p:sp>
      <p:grpSp>
        <p:nvGrpSpPr>
          <p:cNvPr id="105" name="Google Shape;105;p19"/>
          <p:cNvGrpSpPr/>
          <p:nvPr/>
        </p:nvGrpSpPr>
        <p:grpSpPr>
          <a:xfrm>
            <a:off x="0" y="0"/>
            <a:ext cx="9906000" cy="1065598"/>
            <a:chOff x="0" y="0"/>
            <a:chExt cx="9906000" cy="1065598"/>
          </a:xfrm>
        </p:grpSpPr>
        <p:sp>
          <p:nvSpPr>
            <p:cNvPr id="106" name="Google Shape;106;p19"/>
            <p:cNvSpPr/>
            <p:nvPr/>
          </p:nvSpPr>
          <p:spPr>
            <a:xfrm>
              <a:off x="0" y="788600"/>
              <a:ext cx="9906000" cy="276998"/>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107" name="Google Shape;107;p19"/>
            <p:cNvSpPr/>
            <p:nvPr/>
          </p:nvSpPr>
          <p:spPr>
            <a:xfrm>
              <a:off x="0" y="0"/>
              <a:ext cx="9906000" cy="927100"/>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sp>
        <p:nvSpPr>
          <p:cNvPr id="108" name="Google Shape;108;p19"/>
          <p:cNvSpPr/>
          <p:nvPr/>
        </p:nvSpPr>
        <p:spPr>
          <a:xfrm>
            <a:off x="449612" y="523712"/>
            <a:ext cx="178400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Chapter 2 Quiz</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type="blank">
  <p:cSld name="BLANK">
    <p:spTree>
      <p:nvGrpSpPr>
        <p:cNvPr id="109" name="Shape 109"/>
        <p:cNvGrpSpPr/>
        <p:nvPr/>
      </p:nvGrpSpPr>
      <p:grpSpPr>
        <a:xfrm>
          <a:off x="0" y="0"/>
          <a:ext cx="0" cy="0"/>
          <a:chOff x="0" y="0"/>
          <a:chExt cx="0" cy="0"/>
        </a:xfrm>
      </p:grpSpPr>
      <p:cxnSp>
        <p:nvCxnSpPr>
          <p:cNvPr id="110" name="Google Shape;110;p20"/>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11" name="Google Shape;111;p20"/>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12" name="Google Shape;112;p20"/>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cxnSp>
        <p:nvCxnSpPr>
          <p:cNvPr id="113" name="Google Shape;113;p20"/>
          <p:cNvCxnSpPr/>
          <p:nvPr/>
        </p:nvCxnSpPr>
        <p:spPr>
          <a:xfrm>
            <a:off x="449612" y="900000"/>
            <a:ext cx="9003600" cy="0"/>
          </a:xfrm>
          <a:prstGeom prst="straightConnector1">
            <a:avLst/>
          </a:prstGeom>
          <a:noFill/>
          <a:ln cap="flat" cmpd="sng" w="15875">
            <a:solidFill>
              <a:srgbClr val="0924A5"/>
            </a:solidFill>
            <a:prstDash val="solid"/>
            <a:miter lim="800000"/>
            <a:headEnd len="sm" w="sm" type="none"/>
            <a:tailEnd len="sm" w="sm" type="none"/>
          </a:ln>
        </p:spPr>
      </p:cxnSp>
      <p:sp>
        <p:nvSpPr>
          <p:cNvPr id="114" name="Google Shape;114;p20"/>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p:cSld name="last">
    <p:spTree>
      <p:nvGrpSpPr>
        <p:cNvPr id="115" name="Shape 115"/>
        <p:cNvGrpSpPr/>
        <p:nvPr/>
      </p:nvGrpSpPr>
      <p:grpSpPr>
        <a:xfrm>
          <a:off x="0" y="0"/>
          <a:ext cx="0" cy="0"/>
          <a:chOff x="0" y="0"/>
          <a:chExt cx="0" cy="0"/>
        </a:xfrm>
      </p:grpSpPr>
      <p:pic>
        <p:nvPicPr>
          <p:cNvPr id="116" name="Google Shape;116;p21"/>
          <p:cNvPicPr preferRelativeResize="0"/>
          <p:nvPr/>
        </p:nvPicPr>
        <p:blipFill rotWithShape="1">
          <a:blip r:embed="rId2">
            <a:alphaModFix/>
          </a:blip>
          <a:srcRect b="0" l="0" r="0" t="0"/>
          <a:stretch/>
        </p:blipFill>
        <p:spPr>
          <a:xfrm>
            <a:off x="1" y="4395"/>
            <a:ext cx="9902825" cy="6853605"/>
          </a:xfrm>
          <a:prstGeom prst="rect">
            <a:avLst/>
          </a:prstGeom>
          <a:noFill/>
          <a:ln>
            <a:noFill/>
          </a:ln>
        </p:spPr>
      </p:pic>
      <p:sp>
        <p:nvSpPr>
          <p:cNvPr id="117" name="Google Shape;117;p21"/>
          <p:cNvSpPr/>
          <p:nvPr/>
        </p:nvSpPr>
        <p:spPr>
          <a:xfrm>
            <a:off x="1" y="0"/>
            <a:ext cx="9902825" cy="6858000"/>
          </a:xfrm>
          <a:prstGeom prst="rect">
            <a:avLst/>
          </a:prstGeom>
          <a:solidFill>
            <a:srgbClr val="1428A0">
              <a:alpha val="8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60">
              <a:solidFill>
                <a:schemeClr val="lt1"/>
              </a:solidFill>
              <a:latin typeface="Gulim"/>
              <a:ea typeface="Gulim"/>
              <a:cs typeface="Gulim"/>
              <a:sym typeface="Gulim"/>
            </a:endParaRPr>
          </a:p>
        </p:txBody>
      </p:sp>
      <p:sp>
        <p:nvSpPr>
          <p:cNvPr id="118" name="Google Shape;118;p21"/>
          <p:cNvSpPr/>
          <p:nvPr/>
        </p:nvSpPr>
        <p:spPr>
          <a:xfrm>
            <a:off x="449612" y="5677031"/>
            <a:ext cx="9003600" cy="7309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ⓒ2022 SAMSUNG. All rights reserved.</a:t>
            </a:r>
            <a:endParaRPr/>
          </a:p>
          <a:p>
            <a:pPr indent="0" lvl="0" marL="0" marR="0" rtl="0" algn="l">
              <a:lnSpc>
                <a:spcPct val="100000"/>
              </a:lnSpc>
              <a:spcBef>
                <a:spcPts val="60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Samsung Electronics Corporate Citizenship Office holds the copyright of book.</a:t>
            </a:r>
            <a:endParaRPr/>
          </a:p>
          <a:p>
            <a:pPr indent="0" lvl="0" marL="0" marR="0" rtl="0" algn="l">
              <a:lnSpc>
                <a:spcPct val="100000"/>
              </a:lnSpc>
              <a:spcBef>
                <a:spcPts val="30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This book is a literary property protected by copyright law so reprint and reproduction without permission are prohibited. </a:t>
            </a:r>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a:p>
        </p:txBody>
      </p:sp>
      <p:pic>
        <p:nvPicPr>
          <p:cNvPr id="119" name="Google Shape;119;p21"/>
          <p:cNvPicPr preferRelativeResize="0"/>
          <p:nvPr/>
        </p:nvPicPr>
        <p:blipFill rotWithShape="1">
          <a:blip r:embed="rId3">
            <a:alphaModFix/>
          </a:blip>
          <a:srcRect b="0" l="0" r="0" t="0"/>
          <a:stretch/>
        </p:blipFill>
        <p:spPr>
          <a:xfrm>
            <a:off x="3713012" y="3022951"/>
            <a:ext cx="2476800" cy="812098"/>
          </a:xfrm>
          <a:prstGeom prst="rect">
            <a:avLst/>
          </a:prstGeom>
          <a:noFill/>
          <a:ln>
            <a:noFill/>
          </a:ln>
        </p:spPr>
      </p:pic>
      <p:sp>
        <p:nvSpPr>
          <p:cNvPr id="120" name="Google Shape;120;p21"/>
          <p:cNvSpPr/>
          <p:nvPr/>
        </p:nvSpPr>
        <p:spPr>
          <a:xfrm>
            <a:off x="449612" y="450000"/>
            <a:ext cx="1290982"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sz="196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ody">
  <p:cSld name="1_Body">
    <p:bg>
      <p:bgPr>
        <a:solidFill>
          <a:srgbClr val="F2F2F2"/>
        </a:solidFill>
      </p:bgPr>
    </p:bg>
    <p:spTree>
      <p:nvGrpSpPr>
        <p:cNvPr id="121" name="Shape 121"/>
        <p:cNvGrpSpPr/>
        <p:nvPr/>
      </p:nvGrpSpPr>
      <p:grpSpPr>
        <a:xfrm>
          <a:off x="0" y="0"/>
          <a:ext cx="0" cy="0"/>
          <a:chOff x="0" y="0"/>
          <a:chExt cx="0" cy="0"/>
        </a:xfrm>
      </p:grpSpPr>
      <p:pic>
        <p:nvPicPr>
          <p:cNvPr id="122" name="Google Shape;122;p22"/>
          <p:cNvPicPr preferRelativeResize="0"/>
          <p:nvPr/>
        </p:nvPicPr>
        <p:blipFill rotWithShape="1">
          <a:blip r:embed="rId2">
            <a:alphaModFix/>
          </a:blip>
          <a:srcRect b="0" l="0" r="0" t="0"/>
          <a:stretch/>
        </p:blipFill>
        <p:spPr>
          <a:xfrm>
            <a:off x="0" y="0"/>
            <a:ext cx="9906000" cy="6858000"/>
          </a:xfrm>
          <a:prstGeom prst="rect">
            <a:avLst/>
          </a:prstGeom>
          <a:noFill/>
          <a:ln>
            <a:noFill/>
          </a:ln>
        </p:spPr>
      </p:pic>
      <p:sp>
        <p:nvSpPr>
          <p:cNvPr id="123" name="Google Shape;123;p22"/>
          <p:cNvSpPr/>
          <p:nvPr/>
        </p:nvSpPr>
        <p:spPr>
          <a:xfrm>
            <a:off x="449612" y="450000"/>
            <a:ext cx="1282433"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sz="1960">
              <a:solidFill>
                <a:schemeClr val="dk1"/>
              </a:solidFill>
              <a:latin typeface="Arial"/>
              <a:ea typeface="Arial"/>
              <a:cs typeface="Arial"/>
              <a:sym typeface="Arial"/>
            </a:endParaRPr>
          </a:p>
        </p:txBody>
      </p:sp>
      <p:pic>
        <p:nvPicPr>
          <p:cNvPr id="124" name="Google Shape;124;p22"/>
          <p:cNvPicPr preferRelativeResize="0"/>
          <p:nvPr/>
        </p:nvPicPr>
        <p:blipFill rotWithShape="1">
          <a:blip r:embed="rId3">
            <a:alphaModFix/>
          </a:blip>
          <a:srcRect b="0" l="0" r="0" t="0"/>
          <a:stretch/>
        </p:blipFill>
        <p:spPr>
          <a:xfrm>
            <a:off x="4266998" y="6141164"/>
            <a:ext cx="1372004" cy="450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able of Contents2">
  <p:cSld name="3_Table of Contents2">
    <p:spTree>
      <p:nvGrpSpPr>
        <p:cNvPr id="125" name="Shape 125"/>
        <p:cNvGrpSpPr/>
        <p:nvPr/>
      </p:nvGrpSpPr>
      <p:grpSpPr>
        <a:xfrm>
          <a:off x="0" y="0"/>
          <a:ext cx="0" cy="0"/>
          <a:chOff x="0" y="0"/>
          <a:chExt cx="0" cy="0"/>
        </a:xfrm>
      </p:grpSpPr>
      <p:pic>
        <p:nvPicPr>
          <p:cNvPr id="126" name="Google Shape;126;p23"/>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27" name="Google Shape;127;p23"/>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28" name="Google Shape;128;p23"/>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29" name="Google Shape;129;p23"/>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able of Contents">
  <p:cSld name="5_Table of Contents">
    <p:spTree>
      <p:nvGrpSpPr>
        <p:cNvPr id="130" name="Shape 130"/>
        <p:cNvGrpSpPr/>
        <p:nvPr/>
      </p:nvGrpSpPr>
      <p:grpSpPr>
        <a:xfrm>
          <a:off x="0" y="0"/>
          <a:ext cx="0" cy="0"/>
          <a:chOff x="0" y="0"/>
          <a:chExt cx="0" cy="0"/>
        </a:xfrm>
      </p:grpSpPr>
      <p:pic>
        <p:nvPicPr>
          <p:cNvPr id="131" name="Google Shape;131;p24"/>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32" name="Google Shape;132;p24"/>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33" name="Google Shape;133;p24"/>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34" name="Google Shape;134;p24"/>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35" name="Google Shape;135;p24"/>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able of Contents">
  <p:cSld name="6_Table of Contents">
    <p:spTree>
      <p:nvGrpSpPr>
        <p:cNvPr id="136" name="Shape 136"/>
        <p:cNvGrpSpPr/>
        <p:nvPr/>
      </p:nvGrpSpPr>
      <p:grpSpPr>
        <a:xfrm>
          <a:off x="0" y="0"/>
          <a:ext cx="0" cy="0"/>
          <a:chOff x="0" y="0"/>
          <a:chExt cx="0" cy="0"/>
        </a:xfrm>
      </p:grpSpPr>
      <p:pic>
        <p:nvPicPr>
          <p:cNvPr id="137" name="Google Shape;137;p25"/>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38" name="Google Shape;138;p25"/>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39" name="Google Shape;139;p25"/>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40" name="Google Shape;140;p25"/>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41" name="Google Shape;141;p25"/>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2. </a:t>
            </a:r>
            <a:r>
              <a:rPr b="1" lang="en-US" sz="900">
                <a:solidFill>
                  <a:srgbClr val="7F7F7F"/>
                </a:solidFill>
                <a:latin typeface="Arial"/>
                <a:ea typeface="Arial"/>
                <a:cs typeface="Arial"/>
                <a:sym typeface="Arial"/>
              </a:rPr>
              <a:t>Key of Python Basic</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1"/>
          <p:cNvGrpSpPr/>
          <p:nvPr/>
        </p:nvGrpSpPr>
        <p:grpSpPr>
          <a:xfrm>
            <a:off x="720000" y="2415408"/>
            <a:ext cx="4528275" cy="1572448"/>
            <a:chOff x="720000" y="2415408"/>
            <a:chExt cx="4528275" cy="1572448"/>
          </a:xfrm>
        </p:grpSpPr>
        <p:sp>
          <p:nvSpPr>
            <p:cNvPr id="148" name="Google Shape;148;p1"/>
            <p:cNvSpPr/>
            <p:nvPr/>
          </p:nvSpPr>
          <p:spPr>
            <a:xfrm>
              <a:off x="720001" y="2415408"/>
              <a:ext cx="4528274"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5400" u="none" cap="none" strike="noStrike">
                  <a:solidFill>
                    <a:schemeClr val="dk1"/>
                  </a:solidFill>
                  <a:latin typeface="Arial"/>
                  <a:ea typeface="Arial"/>
                  <a:cs typeface="Arial"/>
                  <a:sym typeface="Arial"/>
                </a:rPr>
                <a:t>Chapter Quiz</a:t>
              </a:r>
              <a:endParaRPr/>
            </a:p>
          </p:txBody>
        </p:sp>
        <p:sp>
          <p:nvSpPr>
            <p:cNvPr id="149" name="Google Shape;149;p1"/>
            <p:cNvSpPr/>
            <p:nvPr/>
          </p:nvSpPr>
          <p:spPr>
            <a:xfrm>
              <a:off x="990000" y="3618524"/>
              <a:ext cx="3953475"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428A0"/>
                  </a:solidFill>
                  <a:latin typeface="Arial"/>
                  <a:ea typeface="Arial"/>
                  <a:cs typeface="Arial"/>
                  <a:sym typeface="Arial"/>
                </a:rPr>
                <a:t>Coding and Programming</a:t>
              </a:r>
              <a:endParaRPr b="0" i="0" sz="2400" u="none" cap="none" strike="noStrike">
                <a:solidFill>
                  <a:srgbClr val="1428A0"/>
                </a:solidFill>
                <a:latin typeface="Arial"/>
                <a:ea typeface="Arial"/>
                <a:cs typeface="Arial"/>
                <a:sym typeface="Arial"/>
              </a:endParaRPr>
            </a:p>
          </p:txBody>
        </p:sp>
        <p:sp>
          <p:nvSpPr>
            <p:cNvPr id="150" name="Google Shape;150;p1"/>
            <p:cNvSpPr/>
            <p:nvPr/>
          </p:nvSpPr>
          <p:spPr>
            <a:xfrm>
              <a:off x="720000" y="3636262"/>
              <a:ext cx="60008" cy="32316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pSp>
        <p:nvGrpSpPr>
          <p:cNvPr id="156" name="Google Shape;156;p2"/>
          <p:cNvGrpSpPr/>
          <p:nvPr/>
        </p:nvGrpSpPr>
        <p:grpSpPr>
          <a:xfrm>
            <a:off x="719999" y="2494446"/>
            <a:ext cx="5186279" cy="1497008"/>
            <a:chOff x="719999" y="2494446"/>
            <a:chExt cx="5186279" cy="1497008"/>
          </a:xfrm>
        </p:grpSpPr>
        <p:sp>
          <p:nvSpPr>
            <p:cNvPr id="157" name="Google Shape;157;p2"/>
            <p:cNvSpPr/>
            <p:nvPr/>
          </p:nvSpPr>
          <p:spPr>
            <a:xfrm>
              <a:off x="990000" y="2494446"/>
              <a:ext cx="4916278" cy="6771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4400" u="none" cap="none" strike="noStrike">
                  <a:solidFill>
                    <a:schemeClr val="dk1"/>
                  </a:solidFill>
                  <a:latin typeface="Arial"/>
                  <a:ea typeface="Arial"/>
                  <a:cs typeface="Arial"/>
                  <a:sym typeface="Arial"/>
                </a:rPr>
                <a:t>Quiz</a:t>
              </a:r>
              <a:endParaRPr/>
            </a:p>
          </p:txBody>
        </p:sp>
        <p:sp>
          <p:nvSpPr>
            <p:cNvPr id="158" name="Google Shape;158;p2"/>
            <p:cNvSpPr/>
            <p:nvPr/>
          </p:nvSpPr>
          <p:spPr>
            <a:xfrm>
              <a:off x="990001" y="3622122"/>
              <a:ext cx="15388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428A0"/>
                  </a:solidFill>
                  <a:latin typeface="Arial"/>
                  <a:ea typeface="Arial"/>
                  <a:cs typeface="Arial"/>
                  <a:sym typeface="Arial"/>
                </a:rPr>
                <a:t>Chapter 2</a:t>
              </a:r>
              <a:endParaRPr/>
            </a:p>
          </p:txBody>
        </p:sp>
        <p:sp>
          <p:nvSpPr>
            <p:cNvPr id="159" name="Google Shape;159;p2"/>
            <p:cNvSpPr/>
            <p:nvPr/>
          </p:nvSpPr>
          <p:spPr>
            <a:xfrm>
              <a:off x="720000" y="3639860"/>
              <a:ext cx="60008" cy="32316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60" name="Google Shape;160;p2"/>
            <p:cNvSpPr/>
            <p:nvPr/>
          </p:nvSpPr>
          <p:spPr>
            <a:xfrm>
              <a:off x="719999" y="2494446"/>
              <a:ext cx="60008" cy="98069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
        <p:nvSpPr>
          <p:cNvPr id="161" name="Google Shape;161;p2"/>
          <p:cNvSpPr/>
          <p:nvPr/>
        </p:nvSpPr>
        <p:spPr>
          <a:xfrm>
            <a:off x="719999" y="5382604"/>
            <a:ext cx="7050494" cy="586892"/>
          </a:xfrm>
          <a:prstGeom prst="rect">
            <a:avLst/>
          </a:prstGeom>
          <a:noFill/>
          <a:ln>
            <a:noFill/>
          </a:ln>
        </p:spPr>
        <p:txBody>
          <a:bodyPr anchorCtr="0" anchor="t" bIns="0" lIns="0" spcFirstLastPara="1" rIns="0" wrap="square" tIns="0">
            <a:spAutoFit/>
          </a:bodyPr>
          <a:lstStyle/>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ⓒ2023 SAMSUNG. All rights reserved.</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Samsung Electronics Corporate Citizenship Office holds the copyright of this document.</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This document is a literary property protected by copyright law so reprint and reproduction without permission are prohibited. </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To use this document other than the curriculum of Samsung innovation Campus, you must receive written consent from copyright holder.</a:t>
            </a:r>
            <a:endParaRPr b="0" i="0" sz="900" u="none" cap="none" strike="noStrike">
              <a:solidFill>
                <a:schemeClr val="dk1"/>
              </a:solidFill>
              <a:latin typeface="Arial"/>
              <a:ea typeface="Arial"/>
              <a:cs typeface="Arial"/>
              <a:sym typeface="Arial"/>
            </a:endParaRPr>
          </a:p>
        </p:txBody>
      </p:sp>
      <p:sp>
        <p:nvSpPr>
          <p:cNvPr id="162" name="Google Shape;162;p2"/>
          <p:cNvSpPr/>
          <p:nvPr/>
        </p:nvSpPr>
        <p:spPr>
          <a:xfrm>
            <a:off x="2948875" y="3648183"/>
            <a:ext cx="1707964" cy="305232"/>
          </a:xfrm>
          <a:prstGeom prst="roundRect">
            <a:avLst>
              <a:gd fmla="val 16667" name="adj"/>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lt1"/>
                </a:solidFill>
                <a:latin typeface="Arial"/>
                <a:ea typeface="Arial"/>
                <a:cs typeface="Arial"/>
                <a:sym typeface="Arial"/>
              </a:rPr>
              <a:t>For Student</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
          <p:cNvSpPr/>
          <p:nvPr/>
        </p:nvSpPr>
        <p:spPr>
          <a:xfrm>
            <a:off x="463014" y="1796542"/>
            <a:ext cx="8924982" cy="685401"/>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D0D0D"/>
                </a:solidFill>
                <a:latin typeface="Arial"/>
                <a:ea typeface="Arial"/>
                <a:cs typeface="Arial"/>
                <a:sym typeface="Arial"/>
              </a:rPr>
              <a:t>If there are two lists l1 and l2 with the following strings, use the combination of l1 and l2 to print as follows.</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nested loops to print it out.</a:t>
            </a:r>
            <a:endParaRPr/>
          </a:p>
        </p:txBody>
      </p:sp>
      <p:sp>
        <p:nvSpPr>
          <p:cNvPr id="168" name="Google Shape;168;p3"/>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10-01</a:t>
            </a:r>
            <a:endParaRPr sz="2800">
              <a:solidFill>
                <a:srgbClr val="0C0C0C"/>
              </a:solidFill>
              <a:latin typeface="Arial"/>
              <a:ea typeface="Arial"/>
              <a:cs typeface="Arial"/>
              <a:sym typeface="Arial"/>
            </a:endParaRPr>
          </a:p>
        </p:txBody>
      </p:sp>
      <p:sp>
        <p:nvSpPr>
          <p:cNvPr id="169" name="Google Shape;169;p3"/>
          <p:cNvSpPr/>
          <p:nvPr/>
        </p:nvSpPr>
        <p:spPr>
          <a:xfrm>
            <a:off x="7126514" y="324553"/>
            <a:ext cx="2326809"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10</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Lists and Tuple Data Types</a:t>
            </a:r>
            <a:endParaRPr/>
          </a:p>
        </p:txBody>
      </p:sp>
      <p:grpSp>
        <p:nvGrpSpPr>
          <p:cNvPr id="170" name="Google Shape;170;p3"/>
          <p:cNvGrpSpPr/>
          <p:nvPr/>
        </p:nvGrpSpPr>
        <p:grpSpPr>
          <a:xfrm>
            <a:off x="476029" y="2630682"/>
            <a:ext cx="8911967" cy="1941318"/>
            <a:chOff x="476029" y="2630682"/>
            <a:chExt cx="8911967" cy="1941318"/>
          </a:xfrm>
        </p:grpSpPr>
        <p:sp>
          <p:nvSpPr>
            <p:cNvPr id="171" name="Google Shape;171;p3"/>
            <p:cNvSpPr/>
            <p:nvPr/>
          </p:nvSpPr>
          <p:spPr>
            <a:xfrm>
              <a:off x="476029" y="2630682"/>
              <a:ext cx="8911967" cy="1941318"/>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172" name="Google Shape;172;p3"/>
            <p:cNvPicPr preferRelativeResize="0"/>
            <p:nvPr/>
          </p:nvPicPr>
          <p:blipFill rotWithShape="1">
            <a:blip r:embed="rId3">
              <a:alphaModFix/>
            </a:blip>
            <a:srcRect b="0" l="0" r="1055" t="0"/>
            <a:stretch/>
          </p:blipFill>
          <p:spPr>
            <a:xfrm>
              <a:off x="575155" y="2743200"/>
              <a:ext cx="8812841" cy="476250"/>
            </a:xfrm>
            <a:prstGeom prst="rect">
              <a:avLst/>
            </a:prstGeom>
            <a:solidFill>
              <a:srgbClr val="F7F7F7"/>
            </a:solidFill>
            <a:ln cap="flat" cmpd="sng" w="9525">
              <a:solidFill>
                <a:srgbClr val="BFBFBF"/>
              </a:solidFill>
              <a:prstDash val="solid"/>
              <a:round/>
              <a:headEnd len="sm" w="sm" type="none"/>
              <a:tailEnd len="sm" w="sm" type="none"/>
            </a:ln>
          </p:spPr>
        </p:pic>
        <p:pic>
          <p:nvPicPr>
            <p:cNvPr id="173" name="Google Shape;173;p3"/>
            <p:cNvPicPr preferRelativeResize="0"/>
            <p:nvPr/>
          </p:nvPicPr>
          <p:blipFill rotWithShape="1">
            <a:blip r:embed="rId4">
              <a:alphaModFix/>
            </a:blip>
            <a:srcRect b="0" l="0" r="0" t="0"/>
            <a:stretch/>
          </p:blipFill>
          <p:spPr>
            <a:xfrm>
              <a:off x="619125" y="3248025"/>
              <a:ext cx="1517550" cy="127635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
          <p:cNvSpPr/>
          <p:nvPr/>
        </p:nvSpPr>
        <p:spPr>
          <a:xfrm>
            <a:off x="8674461" y="480778"/>
            <a:ext cx="793539" cy="246221"/>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t/>
            </a:r>
            <a:endParaRPr sz="1600">
              <a:solidFill>
                <a:srgbClr val="D8D8D8"/>
              </a:solidFill>
              <a:latin typeface="Arial"/>
              <a:ea typeface="Arial"/>
              <a:cs typeface="Arial"/>
              <a:sym typeface="Arial"/>
            </a:endParaRPr>
          </a:p>
        </p:txBody>
      </p:sp>
      <p:sp>
        <p:nvSpPr>
          <p:cNvPr id="180" name="Google Shape;180;p4"/>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11-01</a:t>
            </a:r>
            <a:endParaRPr sz="2800">
              <a:solidFill>
                <a:srgbClr val="0C0C0C"/>
              </a:solidFill>
              <a:latin typeface="Arial"/>
              <a:ea typeface="Arial"/>
              <a:cs typeface="Arial"/>
              <a:sym typeface="Arial"/>
            </a:endParaRPr>
          </a:p>
        </p:txBody>
      </p:sp>
      <p:sp>
        <p:nvSpPr>
          <p:cNvPr id="181" name="Google Shape;181;p4"/>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11</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Dictionary Data Type</a:t>
            </a:r>
            <a:endParaRPr/>
          </a:p>
        </p:txBody>
      </p:sp>
      <p:sp>
        <p:nvSpPr>
          <p:cNvPr id="182" name="Google Shape;182;p4"/>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 person dictionary is defined as follows. Add a new item to this person dictionary with the key 'Father' and the value 'John Doe'. And then print the person dictionary.</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After defining the person dictionary, write a code to add new items.</a:t>
            </a:r>
            <a:endParaRPr/>
          </a:p>
        </p:txBody>
      </p:sp>
      <p:sp>
        <p:nvSpPr>
          <p:cNvPr id="183" name="Google Shape;183;p4"/>
          <p:cNvSpPr/>
          <p:nvPr/>
        </p:nvSpPr>
        <p:spPr>
          <a:xfrm>
            <a:off x="476029" y="2822706"/>
            <a:ext cx="8911967" cy="539619"/>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184" name="Google Shape;184;p4"/>
          <p:cNvPicPr preferRelativeResize="0"/>
          <p:nvPr/>
        </p:nvPicPr>
        <p:blipFill rotWithShape="1">
          <a:blip r:embed="rId3">
            <a:alphaModFix/>
          </a:blip>
          <a:srcRect b="2324" l="0" r="10672" t="0"/>
          <a:stretch/>
        </p:blipFill>
        <p:spPr>
          <a:xfrm>
            <a:off x="539214" y="2887729"/>
            <a:ext cx="8848782" cy="3888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5"/>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12-01</a:t>
            </a:r>
            <a:endParaRPr sz="2800">
              <a:solidFill>
                <a:srgbClr val="0C0C0C"/>
              </a:solidFill>
              <a:latin typeface="Arial"/>
              <a:ea typeface="Arial"/>
              <a:cs typeface="Arial"/>
              <a:sym typeface="Arial"/>
            </a:endParaRPr>
          </a:p>
        </p:txBody>
      </p:sp>
      <p:sp>
        <p:nvSpPr>
          <p:cNvPr id="191" name="Google Shape;191;p5"/>
          <p:cNvSpPr/>
          <p:nvPr/>
        </p:nvSpPr>
        <p:spPr>
          <a:xfrm>
            <a:off x="7126514" y="324553"/>
            <a:ext cx="2326809"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12</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Sequence Data Types</a:t>
            </a:r>
            <a:endParaRPr/>
          </a:p>
        </p:txBody>
      </p:sp>
      <p:sp>
        <p:nvSpPr>
          <p:cNvPr id="192" name="Google Shape;192;p5"/>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With tuple data, the values of two variables can be swapped without using a temporary variable. Using this swapping method, write a program that moves the largest value in the given list to the last.</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a for loop. When swapping values in a list, additional variables such as temp should not be used.</a:t>
            </a:r>
            <a:endParaRPr/>
          </a:p>
        </p:txBody>
      </p:sp>
      <p:grpSp>
        <p:nvGrpSpPr>
          <p:cNvPr id="193" name="Google Shape;193;p5"/>
          <p:cNvGrpSpPr/>
          <p:nvPr/>
        </p:nvGrpSpPr>
        <p:grpSpPr>
          <a:xfrm>
            <a:off x="476029" y="2822706"/>
            <a:ext cx="8911967" cy="491994"/>
            <a:chOff x="476029" y="2822706"/>
            <a:chExt cx="8911967" cy="491994"/>
          </a:xfrm>
        </p:grpSpPr>
        <p:sp>
          <p:nvSpPr>
            <p:cNvPr id="194" name="Google Shape;194;p5"/>
            <p:cNvSpPr/>
            <p:nvPr/>
          </p:nvSpPr>
          <p:spPr>
            <a:xfrm>
              <a:off x="476029" y="2822706"/>
              <a:ext cx="8911967" cy="491994"/>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195" name="Google Shape;195;p5"/>
            <p:cNvPicPr preferRelativeResize="0"/>
            <p:nvPr/>
          </p:nvPicPr>
          <p:blipFill rotWithShape="1">
            <a:blip r:embed="rId3">
              <a:alphaModFix/>
            </a:blip>
            <a:srcRect b="2630" l="0" r="10865" t="0"/>
            <a:stretch/>
          </p:blipFill>
          <p:spPr>
            <a:xfrm>
              <a:off x="558264" y="2911724"/>
              <a:ext cx="8829732" cy="317251"/>
            </a:xfrm>
            <a:prstGeom prst="rect">
              <a:avLst/>
            </a:prstGeom>
            <a:solidFill>
              <a:srgbClr val="F7F7F7"/>
            </a:solidFill>
            <a:ln cap="flat" cmpd="sng" w="9525">
              <a:solidFill>
                <a:srgbClr val="BFBFBF"/>
              </a:solidFill>
              <a:prstDash val="solid"/>
              <a:round/>
              <a:headEnd len="sm" w="sm" type="none"/>
              <a:tailEnd len="sm" w="sm" type="none"/>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 two-dimensional array a contains the values [[1, 2], [3, 4], [5, 6]]. Change this two-dimensional array to a one-dimensional array like [1, 2, 3, 4, 5, 6], and print it out.</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a for loop. Define a new array and put the elements of a into this array.</a:t>
            </a:r>
            <a:endParaRPr/>
          </a:p>
        </p:txBody>
      </p:sp>
      <p:sp>
        <p:nvSpPr>
          <p:cNvPr id="201" name="Google Shape;201;p6"/>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13-01</a:t>
            </a:r>
            <a:endParaRPr sz="2800">
              <a:solidFill>
                <a:srgbClr val="0C0C0C"/>
              </a:solidFill>
              <a:latin typeface="Arial"/>
              <a:ea typeface="Arial"/>
              <a:cs typeface="Arial"/>
              <a:sym typeface="Arial"/>
            </a:endParaRPr>
          </a:p>
        </p:txBody>
      </p:sp>
      <p:sp>
        <p:nvSpPr>
          <p:cNvPr id="202" name="Google Shape;202;p6"/>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13</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2D Lists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14-01</a:t>
            </a:r>
            <a:endParaRPr sz="2800">
              <a:solidFill>
                <a:srgbClr val="0C0C0C"/>
              </a:solidFill>
              <a:latin typeface="Arial"/>
              <a:ea typeface="Arial"/>
              <a:cs typeface="Arial"/>
              <a:sym typeface="Arial"/>
            </a:endParaRPr>
          </a:p>
        </p:txBody>
      </p:sp>
      <p:sp>
        <p:nvSpPr>
          <p:cNvPr id="209" name="Google Shape;209;p7"/>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14</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Dictionary Method 1</a:t>
            </a:r>
            <a:endParaRPr/>
          </a:p>
        </p:txBody>
      </p:sp>
      <p:sp>
        <p:nvSpPr>
          <p:cNvPr id="210" name="Google Shape;210;p7"/>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There is a dictionary variable maria as follows. In this dictionary variable, courses such as ‘korean' and ‘english' and their scores are stored as key:value. Print the average score of 89.25 for maria's subject scores.</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a dictionary method such as values() and len() function.</a:t>
            </a:r>
            <a:endParaRPr/>
          </a:p>
        </p:txBody>
      </p:sp>
      <p:grpSp>
        <p:nvGrpSpPr>
          <p:cNvPr id="211" name="Google Shape;211;p7"/>
          <p:cNvGrpSpPr/>
          <p:nvPr/>
        </p:nvGrpSpPr>
        <p:grpSpPr>
          <a:xfrm>
            <a:off x="476029" y="2822706"/>
            <a:ext cx="8911967" cy="482469"/>
            <a:chOff x="476029" y="2822706"/>
            <a:chExt cx="8911967" cy="482469"/>
          </a:xfrm>
        </p:grpSpPr>
        <p:sp>
          <p:nvSpPr>
            <p:cNvPr id="212" name="Google Shape;212;p7"/>
            <p:cNvSpPr/>
            <p:nvPr/>
          </p:nvSpPr>
          <p:spPr>
            <a:xfrm>
              <a:off x="476029" y="2822706"/>
              <a:ext cx="8911967" cy="482469"/>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213" name="Google Shape;213;p7"/>
            <p:cNvPicPr preferRelativeResize="0"/>
            <p:nvPr/>
          </p:nvPicPr>
          <p:blipFill rotWithShape="1">
            <a:blip r:embed="rId3">
              <a:alphaModFix/>
            </a:blip>
            <a:srcRect b="-1452" l="0" r="10901" t="0"/>
            <a:stretch/>
          </p:blipFill>
          <p:spPr>
            <a:xfrm>
              <a:off x="561975" y="2918953"/>
              <a:ext cx="8826021" cy="300497"/>
            </a:xfrm>
            <a:prstGeom prst="rect">
              <a:avLst/>
            </a:prstGeom>
            <a:solidFill>
              <a:srgbClr val="F7F7F7"/>
            </a:solidFill>
            <a:ln cap="flat" cmpd="sng" w="9525">
              <a:solidFill>
                <a:srgbClr val="BFBFBF"/>
              </a:solidFill>
              <a:prstDash val="solid"/>
              <a:round/>
              <a:headEnd len="sm" w="sm" type="none"/>
              <a:tailEnd len="sm" w="sm" type="none"/>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8"/>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15-01</a:t>
            </a:r>
            <a:endParaRPr sz="2800">
              <a:solidFill>
                <a:srgbClr val="0C0C0C"/>
              </a:solidFill>
              <a:latin typeface="Arial"/>
              <a:ea typeface="Arial"/>
              <a:cs typeface="Arial"/>
              <a:sym typeface="Arial"/>
            </a:endParaRPr>
          </a:p>
        </p:txBody>
      </p:sp>
      <p:sp>
        <p:nvSpPr>
          <p:cNvPr id="220" name="Google Shape;220;p8"/>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15</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Dictionary Method 2</a:t>
            </a:r>
            <a:endParaRPr/>
          </a:p>
        </p:txBody>
      </p:sp>
      <p:sp>
        <p:nvSpPr>
          <p:cNvPr id="221" name="Google Shape;221;p8"/>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Declare a nested dictionary school as follows. Next, use the deepcopy() function of the copy module to write a program that 'copy' to another variable, school2. (Check that school and school2 are different variables through the is operator.) </a:t>
            </a:r>
            <a:r>
              <a:rPr b="1" lang="en-US" sz="1300">
                <a:solidFill>
                  <a:srgbClr val="FF0000"/>
                </a:solidFill>
                <a:latin typeface="Arial"/>
                <a:ea typeface="Arial"/>
                <a:cs typeface="Arial"/>
                <a:sym typeface="Arial"/>
              </a:rPr>
              <a:t>Coding guideline: Print so that the result of school is school2 is false.</a:t>
            </a:r>
            <a:endParaRPr/>
          </a:p>
        </p:txBody>
      </p:sp>
      <p:grpSp>
        <p:nvGrpSpPr>
          <p:cNvPr id="222" name="Google Shape;222;p8"/>
          <p:cNvGrpSpPr/>
          <p:nvPr/>
        </p:nvGrpSpPr>
        <p:grpSpPr>
          <a:xfrm>
            <a:off x="476029" y="2822706"/>
            <a:ext cx="8911967" cy="625344"/>
            <a:chOff x="476029" y="2822706"/>
            <a:chExt cx="8911967" cy="625344"/>
          </a:xfrm>
        </p:grpSpPr>
        <p:sp>
          <p:nvSpPr>
            <p:cNvPr id="223" name="Google Shape;223;p8"/>
            <p:cNvSpPr/>
            <p:nvPr/>
          </p:nvSpPr>
          <p:spPr>
            <a:xfrm>
              <a:off x="476029" y="2822706"/>
              <a:ext cx="8911967" cy="625344"/>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224" name="Google Shape;224;p8"/>
            <p:cNvPicPr preferRelativeResize="0"/>
            <p:nvPr/>
          </p:nvPicPr>
          <p:blipFill rotWithShape="1">
            <a:blip r:embed="rId3">
              <a:alphaModFix/>
            </a:blip>
            <a:srcRect b="1094" l="0" r="6965" t="0"/>
            <a:stretch/>
          </p:blipFill>
          <p:spPr>
            <a:xfrm>
              <a:off x="561975" y="2918493"/>
              <a:ext cx="8826021" cy="443832"/>
            </a:xfrm>
            <a:prstGeom prst="rect">
              <a:avLst/>
            </a:prstGeom>
            <a:solidFill>
              <a:srgbClr val="F7F7F7"/>
            </a:solidFill>
            <a:ln cap="flat" cmpd="sng" w="9525">
              <a:solidFill>
                <a:srgbClr val="BFBFBF"/>
              </a:solidFill>
              <a:prstDash val="solid"/>
              <a:round/>
              <a:headEnd len="sm" w="sm" type="none"/>
              <a:tailEnd len="sm" w="sm" type="none"/>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9"/>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16-01</a:t>
            </a:r>
            <a:endParaRPr sz="2800">
              <a:solidFill>
                <a:srgbClr val="0C0C0C"/>
              </a:solidFill>
              <a:latin typeface="Arial"/>
              <a:ea typeface="Arial"/>
              <a:cs typeface="Arial"/>
              <a:sym typeface="Arial"/>
            </a:endParaRPr>
          </a:p>
        </p:txBody>
      </p:sp>
      <p:sp>
        <p:nvSpPr>
          <p:cNvPr id="231" name="Google Shape;231;p9"/>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16</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Set Data Type</a:t>
            </a:r>
            <a:endParaRPr/>
          </a:p>
        </p:txBody>
      </p:sp>
      <p:sp>
        <p:nvSpPr>
          <p:cNvPr id="232" name="Google Shape;232;p9"/>
          <p:cNvSpPr/>
          <p:nvPr/>
        </p:nvSpPr>
        <p:spPr>
          <a:xfrm>
            <a:off x="463014" y="1796541"/>
            <a:ext cx="8924982" cy="1312419"/>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There is a scores tuple as follows. This tuple contains information about four students, including each student's name and English, math, and science grades. For example, ‘Hyun’ has an English score of 88, a math score of 95, and a science score of 90. Extract only math scores by unpacking the scores tuple. Write a code that calculates the average of these extracted math scores.</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the zip function to solve the problem.</a:t>
            </a:r>
            <a:endParaRPr/>
          </a:p>
        </p:txBody>
      </p:sp>
      <p:grpSp>
        <p:nvGrpSpPr>
          <p:cNvPr id="233" name="Google Shape;233;p9"/>
          <p:cNvGrpSpPr/>
          <p:nvPr/>
        </p:nvGrpSpPr>
        <p:grpSpPr>
          <a:xfrm>
            <a:off x="476029" y="3243330"/>
            <a:ext cx="8915621" cy="433320"/>
            <a:chOff x="476029" y="3243330"/>
            <a:chExt cx="8915621" cy="433320"/>
          </a:xfrm>
        </p:grpSpPr>
        <p:sp>
          <p:nvSpPr>
            <p:cNvPr id="234" name="Google Shape;234;p9"/>
            <p:cNvSpPr/>
            <p:nvPr/>
          </p:nvSpPr>
          <p:spPr>
            <a:xfrm>
              <a:off x="476029" y="3243330"/>
              <a:ext cx="8911967" cy="433320"/>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pic>
          <p:nvPicPr>
            <p:cNvPr id="235" name="Google Shape;235;p9"/>
            <p:cNvPicPr preferRelativeResize="0"/>
            <p:nvPr/>
          </p:nvPicPr>
          <p:blipFill rotWithShape="1">
            <a:blip r:embed="rId3">
              <a:alphaModFix/>
            </a:blip>
            <a:srcRect b="-6522" l="0" r="10766" t="0"/>
            <a:stretch/>
          </p:blipFill>
          <p:spPr>
            <a:xfrm>
              <a:off x="552229" y="3325245"/>
              <a:ext cx="8839421" cy="284730"/>
            </a:xfrm>
            <a:prstGeom prst="rect">
              <a:avLst/>
            </a:prstGeom>
            <a:solidFill>
              <a:srgbClr val="F7F7F7"/>
            </a:solidFill>
            <a:ln cap="flat" cmpd="sng" w="9525">
              <a:solidFill>
                <a:srgbClr val="BFBFBF"/>
              </a:solidFill>
              <a:prstDash val="solid"/>
              <a:round/>
              <a:headEnd len="sm" w="sm" type="none"/>
              <a:tailEnd len="sm" w="sm" type="none"/>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2009-02-24T02:14:00Z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